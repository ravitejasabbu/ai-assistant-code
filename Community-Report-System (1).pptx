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Kanit"/>
      <p:regular r:id="rId17"/>
    </p:embeddedFont>
    <p:embeddedFont>
      <p:font typeface="Kanit"/>
      <p:regular r:id="rId18"/>
    </p:embeddedFont>
    <p:embeddedFont>
      <p:font typeface="Kanit"/>
      <p:regular r:id="rId19"/>
    </p:embeddedFont>
    <p:embeddedFont>
      <p:font typeface="Kanit"/>
      <p:regular r:id="rId20"/>
    </p:embeddedFont>
    <p:embeddedFont>
      <p:font typeface="Martel Sans Light"/>
      <p:regular r:id="rId21"/>
    </p:embeddedFont>
    <p:embeddedFont>
      <p:font typeface="Martel Sans Light"/>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slideLayout" Target="../slideLayouts/slideLayout9.xml"/><Relationship Id="rId1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0.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3001089"/>
            <a:ext cx="5900857" cy="615910"/>
          </a:xfrm>
          <a:prstGeom prst="rect">
            <a:avLst/>
          </a:prstGeom>
          <a:noFill/>
          <a:ln/>
        </p:spPr>
        <p:txBody>
          <a:bodyPr wrap="none" lIns="0" tIns="0" rIns="0" bIns="0" rtlCol="0" anchor="t"/>
          <a:lstStyle/>
          <a:p>
            <a:pPr algn="l" indent="0" marL="0">
              <a:lnSpc>
                <a:spcPts val="4850"/>
              </a:lnSpc>
              <a:buNone/>
            </a:pPr>
            <a:r>
              <a:rPr lang="en-US" sz="3850" dirty="0">
                <a:solidFill>
                  <a:srgbClr val="FFFFFF"/>
                </a:solidFill>
                <a:latin typeface="Kanit" pitchFamily="34" charset="0"/>
                <a:ea typeface="Kanit" pitchFamily="34" charset="-122"/>
                <a:cs typeface="Kanit" pitchFamily="34" charset="-120"/>
              </a:rPr>
              <a:t>Community Report System</a:t>
            </a:r>
            <a:endParaRPr lang="en-US" sz="3850" dirty="0"/>
          </a:p>
        </p:txBody>
      </p:sp>
      <p:sp>
        <p:nvSpPr>
          <p:cNvPr id="4" name="Text 1"/>
          <p:cNvSpPr/>
          <p:nvPr/>
        </p:nvSpPr>
        <p:spPr>
          <a:xfrm>
            <a:off x="837724" y="3700701"/>
            <a:ext cx="5799177" cy="308015"/>
          </a:xfrm>
          <a:prstGeom prst="rect">
            <a:avLst/>
          </a:prstGeom>
          <a:noFill/>
          <a:ln/>
        </p:spPr>
        <p:txBody>
          <a:bodyPr wrap="none" lIns="0" tIns="0" rIns="0" bIns="0" rtlCol="0" anchor="t"/>
          <a:lstStyle/>
          <a:p>
            <a:pPr algn="l" indent="0" marL="0">
              <a:lnSpc>
                <a:spcPts val="2400"/>
              </a:lnSpc>
              <a:buNone/>
            </a:pPr>
            <a:r>
              <a:rPr lang="en-US" sz="1900" dirty="0">
                <a:solidFill>
                  <a:srgbClr val="FFFFFF"/>
                </a:solidFill>
                <a:latin typeface="Kanit" pitchFamily="34" charset="0"/>
                <a:ea typeface="Kanit" pitchFamily="34" charset="-122"/>
                <a:cs typeface="Kanit" pitchFamily="34" charset="-120"/>
              </a:rPr>
              <a:t>Empowering Communities Through Digital Reporting</a:t>
            </a:r>
            <a:endParaRPr lang="en-US" sz="1900" dirty="0"/>
          </a:p>
        </p:txBody>
      </p:sp>
      <p:sp>
        <p:nvSpPr>
          <p:cNvPr id="5" name="Text 2"/>
          <p:cNvSpPr/>
          <p:nvPr/>
        </p:nvSpPr>
        <p:spPr>
          <a:xfrm>
            <a:off x="837724" y="4322802"/>
            <a:ext cx="7468553" cy="335042"/>
          </a:xfrm>
          <a:prstGeom prst="rect">
            <a:avLst/>
          </a:prstGeom>
          <a:noFill/>
          <a:ln/>
        </p:spPr>
        <p:txBody>
          <a:bodyPr wrap="non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Presented by: [S.Raviteja]</a:t>
            </a:r>
            <a:endParaRPr lang="en-US" sz="1600" dirty="0"/>
          </a:p>
        </p:txBody>
      </p:sp>
      <p:sp>
        <p:nvSpPr>
          <p:cNvPr id="6" name="Text 3"/>
          <p:cNvSpPr/>
          <p:nvPr/>
        </p:nvSpPr>
        <p:spPr>
          <a:xfrm>
            <a:off x="837724" y="4893469"/>
            <a:ext cx="7468553" cy="335042"/>
          </a:xfrm>
          <a:prstGeom prst="rect">
            <a:avLst/>
          </a:prstGeom>
          <a:noFill/>
          <a:ln/>
        </p:spPr>
        <p:txBody>
          <a:bodyPr wrap="non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Date: [4/15/2026]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11027" y="627459"/>
            <a:ext cx="7494746" cy="1212771"/>
          </a:xfrm>
          <a:prstGeom prst="rect">
            <a:avLst/>
          </a:prstGeom>
          <a:noFill/>
          <a:ln/>
        </p:spPr>
        <p:txBody>
          <a:bodyPr wrap="square" lIns="0" tIns="0" rIns="0" bIns="0" rtlCol="0" anchor="t"/>
          <a:lstStyle/>
          <a:p>
            <a:pPr algn="l" indent="0" marL="0">
              <a:lnSpc>
                <a:spcPts val="4750"/>
              </a:lnSpc>
              <a:buNone/>
            </a:pPr>
            <a:r>
              <a:rPr lang="en-US" sz="3800" dirty="0">
                <a:solidFill>
                  <a:srgbClr val="FFFFFF"/>
                </a:solidFill>
                <a:latin typeface="Kanit" pitchFamily="34" charset="0"/>
                <a:ea typeface="Kanit" pitchFamily="34" charset="-122"/>
                <a:cs typeface="Kanit" pitchFamily="34" charset="-120"/>
              </a:rPr>
              <a:t>What is a Community Report System?</a:t>
            </a:r>
            <a:endParaRPr lang="en-US" sz="3800" dirty="0"/>
          </a:p>
        </p:txBody>
      </p:sp>
      <p:sp>
        <p:nvSpPr>
          <p:cNvPr id="4" name="Text 1"/>
          <p:cNvSpPr/>
          <p:nvPr/>
        </p:nvSpPr>
        <p:spPr>
          <a:xfrm>
            <a:off x="6311027" y="2327315"/>
            <a:ext cx="3895725" cy="2945725"/>
          </a:xfrm>
          <a:prstGeom prst="rect">
            <a:avLst/>
          </a:prstGeom>
          <a:noFill/>
          <a:ln/>
        </p:spPr>
        <p:txBody>
          <a:bodyPr wrap="squar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A Community Report System is a digital platform that enables residents to report issues, concerns, and observations directly to local authorities or community organizations. Think of it as a bridge connecting citizens with the people who can solve problems—from potholes to safety concerns.</a:t>
            </a:r>
            <a:endParaRPr lang="en-US" sz="1600" dirty="0"/>
          </a:p>
        </p:txBody>
      </p:sp>
      <p:sp>
        <p:nvSpPr>
          <p:cNvPr id="5" name="Text 2"/>
          <p:cNvSpPr/>
          <p:nvPr/>
        </p:nvSpPr>
        <p:spPr>
          <a:xfrm>
            <a:off x="6311027" y="5455682"/>
            <a:ext cx="3895725" cy="1963817"/>
          </a:xfrm>
          <a:prstGeom prst="rect">
            <a:avLst/>
          </a:prstGeom>
          <a:noFill/>
          <a:ln/>
        </p:spPr>
        <p:txBody>
          <a:bodyPr wrap="square" lIns="0" tIns="0" rIns="0" bIns="0" rtlCol="0" anchor="t"/>
          <a:lstStyle/>
          <a:p>
            <a:pPr algn="l" indent="0" marL="0">
              <a:lnSpc>
                <a:spcPts val="2550"/>
              </a:lnSpc>
              <a:buNone/>
            </a:pPr>
            <a:r>
              <a:rPr lang="en-US" sz="1600" dirty="0">
                <a:solidFill>
                  <a:srgbClr val="D9E1FF"/>
                </a:solidFill>
                <a:latin typeface="Martel Sans Light" pitchFamily="34" charset="0"/>
                <a:ea typeface="Martel Sans Light" pitchFamily="34" charset="-122"/>
                <a:cs typeface="Martel Sans Light" pitchFamily="34" charset="-120"/>
              </a:rPr>
              <a:t>These systems streamline communication, track progress, and ensure accountability. They transform how communities interact with local government, making reporting as easy as sending a text message.</a:t>
            </a:r>
            <a:endParaRPr lang="en-US" sz="1600" dirty="0"/>
          </a:p>
        </p:txBody>
      </p:sp>
      <p:sp>
        <p:nvSpPr>
          <p:cNvPr id="6" name="Shape 3"/>
          <p:cNvSpPr/>
          <p:nvPr/>
        </p:nvSpPr>
        <p:spPr>
          <a:xfrm>
            <a:off x="10568821" y="2144673"/>
            <a:ext cx="3392924" cy="5457468"/>
          </a:xfrm>
          <a:prstGeom prst="roundRect">
            <a:avLst>
              <a:gd name="adj" fmla="val 912"/>
            </a:avLst>
          </a:prstGeom>
          <a:solidFill>
            <a:srgbClr val="FD505F"/>
          </a:solidFill>
          <a:ln/>
        </p:spPr>
      </p:sp>
      <p:sp>
        <p:nvSpPr>
          <p:cNvPr id="7" name="Text 4"/>
          <p:cNvSpPr/>
          <p:nvPr/>
        </p:nvSpPr>
        <p:spPr>
          <a:xfrm>
            <a:off x="10774918" y="2347555"/>
            <a:ext cx="2425660" cy="303133"/>
          </a:xfrm>
          <a:prstGeom prst="rect">
            <a:avLst/>
          </a:prstGeom>
          <a:noFill/>
          <a:ln/>
        </p:spPr>
        <p:txBody>
          <a:bodyPr wrap="none" lIns="0" tIns="0" rIns="0" bIns="0" rtlCol="0" anchor="t"/>
          <a:lstStyle/>
          <a:p>
            <a:pPr algn="l" indent="0" marL="0">
              <a:lnSpc>
                <a:spcPts val="2350"/>
              </a:lnSpc>
              <a:buNone/>
            </a:pPr>
            <a:r>
              <a:rPr lang="en-US" sz="1900" dirty="0">
                <a:solidFill>
                  <a:srgbClr val="000000"/>
                </a:solidFill>
                <a:latin typeface="Kanit" pitchFamily="34" charset="0"/>
                <a:ea typeface="Kanit" pitchFamily="34" charset="-122"/>
                <a:cs typeface="Kanit" pitchFamily="34" charset="-120"/>
              </a:rPr>
              <a:t>Key Concept</a:t>
            </a:r>
            <a:endParaRPr lang="en-US" sz="1900" dirty="0"/>
          </a:p>
        </p:txBody>
      </p:sp>
      <p:sp>
        <p:nvSpPr>
          <p:cNvPr id="8" name="Text 5"/>
          <p:cNvSpPr/>
          <p:nvPr/>
        </p:nvSpPr>
        <p:spPr>
          <a:xfrm>
            <a:off x="10774918" y="2853571"/>
            <a:ext cx="2980730" cy="981908"/>
          </a:xfrm>
          <a:prstGeom prst="rect">
            <a:avLst/>
          </a:prstGeom>
          <a:noFill/>
          <a:ln/>
        </p:spPr>
        <p:txBody>
          <a:bodyPr wrap="square" lIns="0" tIns="0" rIns="0" bIns="0" rtlCol="0" anchor="t"/>
          <a:lstStyle/>
          <a:p>
            <a:pPr algn="l" indent="0" marL="0">
              <a:lnSpc>
                <a:spcPts val="2550"/>
              </a:lnSpc>
              <a:buNone/>
            </a:pPr>
            <a:r>
              <a:rPr lang="en-US" sz="1600" dirty="0">
                <a:solidFill>
                  <a:srgbClr val="000000"/>
                </a:solidFill>
                <a:latin typeface="Martel Sans Light" pitchFamily="34" charset="0"/>
                <a:ea typeface="Martel Sans Light" pitchFamily="34" charset="-122"/>
                <a:cs typeface="Martel Sans Light" pitchFamily="34" charset="-120"/>
              </a:rPr>
              <a:t>Connecting citizens with authorities through simple, accessible technology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132403"/>
            <a:ext cx="6736437" cy="615910"/>
          </a:xfrm>
          <a:prstGeom prst="rect">
            <a:avLst/>
          </a:prstGeom>
          <a:noFill/>
          <a:ln/>
        </p:spPr>
        <p:txBody>
          <a:bodyPr wrap="none" lIns="0" tIns="0" rIns="0" bIns="0" rtlCol="0" anchor="t"/>
          <a:lstStyle/>
          <a:p>
            <a:pPr algn="l" indent="0" marL="0">
              <a:lnSpc>
                <a:spcPts val="4850"/>
              </a:lnSpc>
              <a:buNone/>
            </a:pPr>
            <a:r>
              <a:rPr lang="en-US" sz="3850" dirty="0">
                <a:solidFill>
                  <a:srgbClr val="FFFFFF"/>
                </a:solidFill>
                <a:latin typeface="Kanit" pitchFamily="34" charset="0"/>
                <a:ea typeface="Kanit" pitchFamily="34" charset="-122"/>
                <a:cs typeface="Kanit" pitchFamily="34" charset="-120"/>
              </a:rPr>
              <a:t>Why Do We Need This System?</a:t>
            </a:r>
            <a:endParaRPr lang="en-US" sz="3850" dirty="0"/>
          </a:p>
        </p:txBody>
      </p:sp>
      <p:sp>
        <p:nvSpPr>
          <p:cNvPr id="3" name="Shape 1"/>
          <p:cNvSpPr/>
          <p:nvPr/>
        </p:nvSpPr>
        <p:spPr>
          <a:xfrm>
            <a:off x="837724" y="2167176"/>
            <a:ext cx="6372701" cy="2360295"/>
          </a:xfrm>
          <a:prstGeom prst="roundRect">
            <a:avLst>
              <a:gd name="adj" fmla="val 1331"/>
            </a:avLst>
          </a:prstGeom>
          <a:solidFill>
            <a:srgbClr val="2F2B54"/>
          </a:solidFill>
          <a:ln/>
        </p:spPr>
      </p:sp>
      <p:pic>
        <p:nvPicPr>
          <p:cNvPr id="4" name="Image 0" descr="preencoded.png">    </p:cNvPr>
          <p:cNvPicPr>
            <a:picLocks noChangeAspect="1"/>
          </p:cNvPicPr>
          <p:nvPr/>
        </p:nvPicPr>
        <p:blipFill>
          <a:blip r:embed="rId1"/>
          <a:stretch>
            <a:fillRect/>
          </a:stretch>
        </p:blipFill>
        <p:spPr>
          <a:xfrm>
            <a:off x="1047155" y="2376607"/>
            <a:ext cx="628293" cy="628293"/>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9914" y="2549366"/>
            <a:ext cx="282654" cy="282654"/>
          </a:xfrm>
          <a:prstGeom prst="rect">
            <a:avLst/>
          </a:prstGeom>
        </p:spPr>
      </p:pic>
      <p:sp>
        <p:nvSpPr>
          <p:cNvPr id="6" name="Text 2"/>
          <p:cNvSpPr/>
          <p:nvPr/>
        </p:nvSpPr>
        <p:spPr>
          <a:xfrm>
            <a:off x="1047155" y="3214330"/>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Unreported Issues</a:t>
            </a:r>
            <a:endParaRPr lang="en-US" sz="1900" dirty="0"/>
          </a:p>
        </p:txBody>
      </p:sp>
      <p:sp>
        <p:nvSpPr>
          <p:cNvPr id="7" name="Text 3"/>
          <p:cNvSpPr/>
          <p:nvPr/>
        </p:nvSpPr>
        <p:spPr>
          <a:xfrm>
            <a:off x="1047155" y="3647956"/>
            <a:ext cx="5953839" cy="670084"/>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Problems like damaged infrastructure or safety hazards often go unnoticed without proper channels</a:t>
            </a:r>
            <a:endParaRPr lang="en-US" sz="1600" dirty="0"/>
          </a:p>
        </p:txBody>
      </p:sp>
      <p:sp>
        <p:nvSpPr>
          <p:cNvPr id="8" name="Shape 4"/>
          <p:cNvSpPr/>
          <p:nvPr/>
        </p:nvSpPr>
        <p:spPr>
          <a:xfrm>
            <a:off x="7419856" y="2167176"/>
            <a:ext cx="6372820" cy="2360295"/>
          </a:xfrm>
          <a:prstGeom prst="roundRect">
            <a:avLst>
              <a:gd name="adj" fmla="val 1331"/>
            </a:avLst>
          </a:prstGeom>
          <a:solidFill>
            <a:srgbClr val="2F2B54"/>
          </a:solidFill>
          <a:ln/>
        </p:spPr>
      </p:sp>
      <p:pic>
        <p:nvPicPr>
          <p:cNvPr id="9" name="Image 2" descr="preencoded.png">    </p:cNvPr>
          <p:cNvPicPr>
            <a:picLocks noChangeAspect="1"/>
          </p:cNvPicPr>
          <p:nvPr/>
        </p:nvPicPr>
        <p:blipFill>
          <a:blip r:embed="rId4"/>
          <a:stretch>
            <a:fillRect/>
          </a:stretch>
        </p:blipFill>
        <p:spPr>
          <a:xfrm>
            <a:off x="7629287" y="2376607"/>
            <a:ext cx="628293" cy="628293"/>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2047" y="2549366"/>
            <a:ext cx="282654" cy="282654"/>
          </a:xfrm>
          <a:prstGeom prst="rect">
            <a:avLst/>
          </a:prstGeom>
        </p:spPr>
      </p:pic>
      <p:sp>
        <p:nvSpPr>
          <p:cNvPr id="11" name="Text 5"/>
          <p:cNvSpPr/>
          <p:nvPr/>
        </p:nvSpPr>
        <p:spPr>
          <a:xfrm>
            <a:off x="7629287" y="3214330"/>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Slow Response Times</a:t>
            </a:r>
            <a:endParaRPr lang="en-US" sz="1900" dirty="0"/>
          </a:p>
        </p:txBody>
      </p:sp>
      <p:sp>
        <p:nvSpPr>
          <p:cNvPr id="12" name="Text 6"/>
          <p:cNvSpPr/>
          <p:nvPr/>
        </p:nvSpPr>
        <p:spPr>
          <a:xfrm>
            <a:off x="7629287" y="3647956"/>
            <a:ext cx="5953958" cy="670084"/>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Traditional reporting methods create delays between reporting and action</a:t>
            </a:r>
            <a:endParaRPr lang="en-US" sz="1600" dirty="0"/>
          </a:p>
        </p:txBody>
      </p:sp>
      <p:sp>
        <p:nvSpPr>
          <p:cNvPr id="13" name="Shape 7"/>
          <p:cNvSpPr/>
          <p:nvPr/>
        </p:nvSpPr>
        <p:spPr>
          <a:xfrm>
            <a:off x="837724" y="4736902"/>
            <a:ext cx="6372701" cy="2360295"/>
          </a:xfrm>
          <a:prstGeom prst="roundRect">
            <a:avLst>
              <a:gd name="adj" fmla="val 1331"/>
            </a:avLst>
          </a:prstGeom>
          <a:solidFill>
            <a:srgbClr val="2F2B54"/>
          </a:solidFill>
          <a:ln/>
        </p:spPr>
      </p:sp>
      <p:pic>
        <p:nvPicPr>
          <p:cNvPr id="14" name="Image 4" descr="preencoded.png">    </p:cNvPr>
          <p:cNvPicPr>
            <a:picLocks noChangeAspect="1"/>
          </p:cNvPicPr>
          <p:nvPr/>
        </p:nvPicPr>
        <p:blipFill>
          <a:blip r:embed="rId7"/>
          <a:stretch>
            <a:fillRect/>
          </a:stretch>
        </p:blipFill>
        <p:spPr>
          <a:xfrm>
            <a:off x="1047155" y="4946333"/>
            <a:ext cx="628293" cy="628293"/>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9914" y="5119092"/>
            <a:ext cx="282654" cy="282654"/>
          </a:xfrm>
          <a:prstGeom prst="rect">
            <a:avLst/>
          </a:prstGeom>
        </p:spPr>
      </p:pic>
      <p:sp>
        <p:nvSpPr>
          <p:cNvPr id="16" name="Text 8"/>
          <p:cNvSpPr/>
          <p:nvPr/>
        </p:nvSpPr>
        <p:spPr>
          <a:xfrm>
            <a:off x="1047155" y="5784056"/>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Lack of Transparency</a:t>
            </a:r>
            <a:endParaRPr lang="en-US" sz="1900" dirty="0"/>
          </a:p>
        </p:txBody>
      </p:sp>
      <p:sp>
        <p:nvSpPr>
          <p:cNvPr id="17" name="Text 9"/>
          <p:cNvSpPr/>
          <p:nvPr/>
        </p:nvSpPr>
        <p:spPr>
          <a:xfrm>
            <a:off x="1047155" y="6217682"/>
            <a:ext cx="5953839" cy="670084"/>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Citizens don't know if their reports were received or what actions were taken</a:t>
            </a:r>
            <a:endParaRPr lang="en-US" sz="1600" dirty="0"/>
          </a:p>
        </p:txBody>
      </p:sp>
      <p:sp>
        <p:nvSpPr>
          <p:cNvPr id="18" name="Shape 10"/>
          <p:cNvSpPr/>
          <p:nvPr/>
        </p:nvSpPr>
        <p:spPr>
          <a:xfrm>
            <a:off x="7419856" y="4736902"/>
            <a:ext cx="6372820" cy="2360295"/>
          </a:xfrm>
          <a:prstGeom prst="roundRect">
            <a:avLst>
              <a:gd name="adj" fmla="val 1331"/>
            </a:avLst>
          </a:prstGeom>
          <a:solidFill>
            <a:srgbClr val="2F2B54"/>
          </a:solidFill>
          <a:ln/>
        </p:spPr>
      </p:sp>
      <p:pic>
        <p:nvPicPr>
          <p:cNvPr id="19" name="Image 6" descr="preencoded.png">    </p:cNvPr>
          <p:cNvPicPr>
            <a:picLocks noChangeAspect="1"/>
          </p:cNvPicPr>
          <p:nvPr/>
        </p:nvPicPr>
        <p:blipFill>
          <a:blip r:embed="rId10"/>
          <a:stretch>
            <a:fillRect/>
          </a:stretch>
        </p:blipFill>
        <p:spPr>
          <a:xfrm>
            <a:off x="7629287" y="4946333"/>
            <a:ext cx="628293" cy="628293"/>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02047" y="5119092"/>
            <a:ext cx="282654" cy="282654"/>
          </a:xfrm>
          <a:prstGeom prst="rect">
            <a:avLst/>
          </a:prstGeom>
        </p:spPr>
      </p:pic>
      <p:sp>
        <p:nvSpPr>
          <p:cNvPr id="21" name="Text 11"/>
          <p:cNvSpPr/>
          <p:nvPr/>
        </p:nvSpPr>
        <p:spPr>
          <a:xfrm>
            <a:off x="7629287" y="5784056"/>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Manual Processes</a:t>
            </a:r>
            <a:endParaRPr lang="en-US" sz="1900" dirty="0"/>
          </a:p>
        </p:txBody>
      </p:sp>
      <p:sp>
        <p:nvSpPr>
          <p:cNvPr id="22" name="Text 12"/>
          <p:cNvSpPr/>
          <p:nvPr/>
        </p:nvSpPr>
        <p:spPr>
          <a:xfrm>
            <a:off x="7629287" y="6217682"/>
            <a:ext cx="5953958" cy="670084"/>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Paper-based systems are inefficient, error-prone, and difficult to track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6165" y="545425"/>
            <a:ext cx="7651671" cy="1097280"/>
          </a:xfrm>
          <a:prstGeom prst="rect">
            <a:avLst/>
          </a:prstGeom>
          <a:noFill/>
          <a:ln/>
        </p:spPr>
        <p:txBody>
          <a:bodyPr wrap="square" lIns="0" tIns="0" rIns="0" bIns="0" rtlCol="0" anchor="t"/>
          <a:lstStyle/>
          <a:p>
            <a:pPr algn="l" indent="0" marL="0">
              <a:lnSpc>
                <a:spcPts val="4300"/>
              </a:lnSpc>
              <a:buNone/>
            </a:pPr>
            <a:r>
              <a:rPr lang="en-US" sz="3450" dirty="0">
                <a:solidFill>
                  <a:srgbClr val="FFFFFF"/>
                </a:solidFill>
                <a:latin typeface="Kanit" pitchFamily="34" charset="0"/>
                <a:ea typeface="Kanit" pitchFamily="34" charset="-122"/>
                <a:cs typeface="Kanit" pitchFamily="34" charset="-120"/>
              </a:rPr>
              <a:t>Our Solution: A Digital Reporting Platform</a:t>
            </a:r>
            <a:endParaRPr lang="en-US" sz="3450" dirty="0"/>
          </a:p>
        </p:txBody>
      </p:sp>
      <p:sp>
        <p:nvSpPr>
          <p:cNvPr id="4" name="Text 1"/>
          <p:cNvSpPr/>
          <p:nvPr/>
        </p:nvSpPr>
        <p:spPr>
          <a:xfrm>
            <a:off x="746165" y="1891903"/>
            <a:ext cx="7651671" cy="1128713"/>
          </a:xfrm>
          <a:prstGeom prst="rect">
            <a:avLst/>
          </a:prstGeom>
          <a:noFill/>
          <a:ln/>
        </p:spPr>
        <p:txBody>
          <a:bodyPr wrap="square" lIns="0" tIns="0" rIns="0" bIns="0" rtlCol="0" anchor="t"/>
          <a:lstStyle/>
          <a:p>
            <a:pPr algn="l" indent="0" marL="0">
              <a:lnSpc>
                <a:spcPts val="2200"/>
              </a:lnSpc>
              <a:buNone/>
            </a:pPr>
            <a:r>
              <a:rPr lang="en-US" sz="1450" dirty="0">
                <a:solidFill>
                  <a:srgbClr val="D9E1FF"/>
                </a:solidFill>
                <a:latin typeface="Martel Sans Light" pitchFamily="34" charset="0"/>
                <a:ea typeface="Martel Sans Light" pitchFamily="34" charset="-122"/>
                <a:cs typeface="Martel Sans Light" pitchFamily="34" charset="-120"/>
              </a:rPr>
              <a:t>Our Community Report System is a web-based platform that makes reporting issues as simple as taking a photo. Residents can submit reports with descriptions, photos, and location tags, while administrators receive notifications and can track resolution progress.</a:t>
            </a:r>
            <a:endParaRPr lang="en-US" sz="1450" dirty="0"/>
          </a:p>
        </p:txBody>
      </p:sp>
      <p:pic>
        <p:nvPicPr>
          <p:cNvPr id="5" name="Image 1" descr="preencoded.png">    </p:cNvPr>
          <p:cNvPicPr>
            <a:picLocks noChangeAspect="1"/>
          </p:cNvPicPr>
          <p:nvPr/>
        </p:nvPicPr>
        <p:blipFill>
          <a:blip r:embed="rId2"/>
          <a:stretch>
            <a:fillRect/>
          </a:stretch>
        </p:blipFill>
        <p:spPr>
          <a:xfrm>
            <a:off x="746165" y="3207425"/>
            <a:ext cx="932736" cy="1119187"/>
          </a:xfrm>
          <a:prstGeom prst="rect">
            <a:avLst/>
          </a:prstGeom>
        </p:spPr>
      </p:pic>
      <p:sp>
        <p:nvSpPr>
          <p:cNvPr id="6" name="Text 2"/>
          <p:cNvSpPr/>
          <p:nvPr/>
        </p:nvSpPr>
        <p:spPr>
          <a:xfrm>
            <a:off x="1844993" y="3393877"/>
            <a:ext cx="2194679" cy="274201"/>
          </a:xfrm>
          <a:prstGeom prst="rect">
            <a:avLst/>
          </a:prstGeom>
          <a:noFill/>
          <a:ln/>
        </p:spPr>
        <p:txBody>
          <a:bodyPr wrap="none" lIns="0" tIns="0" rIns="0" bIns="0" rtlCol="0" anchor="t"/>
          <a:lstStyle/>
          <a:p>
            <a:pPr algn="l" indent="0" marL="0">
              <a:lnSpc>
                <a:spcPts val="2150"/>
              </a:lnSpc>
              <a:buNone/>
            </a:pPr>
            <a:r>
              <a:rPr lang="en-US" sz="1700" dirty="0">
                <a:solidFill>
                  <a:srgbClr val="D9E1FF"/>
                </a:solidFill>
                <a:latin typeface="Kanit" pitchFamily="34" charset="0"/>
                <a:ea typeface="Kanit" pitchFamily="34" charset="-122"/>
                <a:cs typeface="Kanit" pitchFamily="34" charset="-120"/>
              </a:rPr>
              <a:t>Easy Registration</a:t>
            </a:r>
            <a:endParaRPr lang="en-US" sz="1700" dirty="0"/>
          </a:p>
        </p:txBody>
      </p:sp>
      <p:sp>
        <p:nvSpPr>
          <p:cNvPr id="7" name="Text 3"/>
          <p:cNvSpPr/>
          <p:nvPr/>
        </p:nvSpPr>
        <p:spPr>
          <a:xfrm>
            <a:off x="1844993" y="3767733"/>
            <a:ext cx="6552843" cy="282178"/>
          </a:xfrm>
          <a:prstGeom prst="rect">
            <a:avLst/>
          </a:prstGeom>
          <a:noFill/>
          <a:ln/>
        </p:spPr>
        <p:txBody>
          <a:bodyPr wrap="none" lIns="0" tIns="0" rIns="0" bIns="0" rtlCol="0" anchor="t"/>
          <a:lstStyle/>
          <a:p>
            <a:pPr algn="l" indent="0" marL="0">
              <a:lnSpc>
                <a:spcPts val="2200"/>
              </a:lnSpc>
              <a:buNone/>
            </a:pPr>
            <a:r>
              <a:rPr lang="en-US" sz="1450" dirty="0">
                <a:solidFill>
                  <a:srgbClr val="D9E1FF"/>
                </a:solidFill>
                <a:latin typeface="Martel Sans Light" pitchFamily="34" charset="0"/>
                <a:ea typeface="Martel Sans Light" pitchFamily="34" charset="-122"/>
                <a:cs typeface="Martel Sans Light" pitchFamily="34" charset="-120"/>
              </a:rPr>
              <a:t>Simple account creation</a:t>
            </a:r>
            <a:endParaRPr lang="en-US" sz="1450" dirty="0"/>
          </a:p>
        </p:txBody>
      </p:sp>
      <p:pic>
        <p:nvPicPr>
          <p:cNvPr id="8" name="Image 2" descr="preencoded.png">    </p:cNvPr>
          <p:cNvPicPr>
            <a:picLocks noChangeAspect="1"/>
          </p:cNvPicPr>
          <p:nvPr/>
        </p:nvPicPr>
        <p:blipFill>
          <a:blip r:embed="rId3"/>
          <a:stretch>
            <a:fillRect/>
          </a:stretch>
        </p:blipFill>
        <p:spPr>
          <a:xfrm>
            <a:off x="746165" y="4326612"/>
            <a:ext cx="932736" cy="1119187"/>
          </a:xfrm>
          <a:prstGeom prst="rect">
            <a:avLst/>
          </a:prstGeom>
        </p:spPr>
      </p:pic>
      <p:sp>
        <p:nvSpPr>
          <p:cNvPr id="9" name="Text 4"/>
          <p:cNvSpPr/>
          <p:nvPr/>
        </p:nvSpPr>
        <p:spPr>
          <a:xfrm>
            <a:off x="1844993" y="4513064"/>
            <a:ext cx="2194679" cy="274201"/>
          </a:xfrm>
          <a:prstGeom prst="rect">
            <a:avLst/>
          </a:prstGeom>
          <a:noFill/>
          <a:ln/>
        </p:spPr>
        <p:txBody>
          <a:bodyPr wrap="none" lIns="0" tIns="0" rIns="0" bIns="0" rtlCol="0" anchor="t"/>
          <a:lstStyle/>
          <a:p>
            <a:pPr algn="l" indent="0" marL="0">
              <a:lnSpc>
                <a:spcPts val="2150"/>
              </a:lnSpc>
              <a:buNone/>
            </a:pPr>
            <a:r>
              <a:rPr lang="en-US" sz="1700" dirty="0">
                <a:solidFill>
                  <a:srgbClr val="D9E1FF"/>
                </a:solidFill>
                <a:latin typeface="Kanit" pitchFamily="34" charset="0"/>
                <a:ea typeface="Kanit" pitchFamily="34" charset="-122"/>
                <a:cs typeface="Kanit" pitchFamily="34" charset="-120"/>
              </a:rPr>
              <a:t>Quick Reporting</a:t>
            </a:r>
            <a:endParaRPr lang="en-US" sz="1700" dirty="0"/>
          </a:p>
        </p:txBody>
      </p:sp>
      <p:sp>
        <p:nvSpPr>
          <p:cNvPr id="10" name="Text 5"/>
          <p:cNvSpPr/>
          <p:nvPr/>
        </p:nvSpPr>
        <p:spPr>
          <a:xfrm>
            <a:off x="1844993" y="4886920"/>
            <a:ext cx="6552843" cy="282178"/>
          </a:xfrm>
          <a:prstGeom prst="rect">
            <a:avLst/>
          </a:prstGeom>
          <a:noFill/>
          <a:ln/>
        </p:spPr>
        <p:txBody>
          <a:bodyPr wrap="none" lIns="0" tIns="0" rIns="0" bIns="0" rtlCol="0" anchor="t"/>
          <a:lstStyle/>
          <a:p>
            <a:pPr algn="l" indent="0" marL="0">
              <a:lnSpc>
                <a:spcPts val="2200"/>
              </a:lnSpc>
              <a:buNone/>
            </a:pPr>
            <a:r>
              <a:rPr lang="en-US" sz="1450" dirty="0">
                <a:solidFill>
                  <a:srgbClr val="D9E1FF"/>
                </a:solidFill>
                <a:latin typeface="Martel Sans Light" pitchFamily="34" charset="0"/>
                <a:ea typeface="Martel Sans Light" pitchFamily="34" charset="-122"/>
                <a:cs typeface="Martel Sans Light" pitchFamily="34" charset="-120"/>
              </a:rPr>
              <a:t>Submit issues in seconds</a:t>
            </a:r>
            <a:endParaRPr lang="en-US" sz="1450" dirty="0"/>
          </a:p>
        </p:txBody>
      </p:sp>
      <p:pic>
        <p:nvPicPr>
          <p:cNvPr id="11" name="Image 3" descr="preencoded.png">    </p:cNvPr>
          <p:cNvPicPr>
            <a:picLocks noChangeAspect="1"/>
          </p:cNvPicPr>
          <p:nvPr/>
        </p:nvPicPr>
        <p:blipFill>
          <a:blip r:embed="rId4"/>
          <a:stretch>
            <a:fillRect/>
          </a:stretch>
        </p:blipFill>
        <p:spPr>
          <a:xfrm>
            <a:off x="746165" y="5445800"/>
            <a:ext cx="932736" cy="1119187"/>
          </a:xfrm>
          <a:prstGeom prst="rect">
            <a:avLst/>
          </a:prstGeom>
        </p:spPr>
      </p:pic>
      <p:sp>
        <p:nvSpPr>
          <p:cNvPr id="12" name="Text 6"/>
          <p:cNvSpPr/>
          <p:nvPr/>
        </p:nvSpPr>
        <p:spPr>
          <a:xfrm>
            <a:off x="1844993" y="5632252"/>
            <a:ext cx="2194679" cy="274201"/>
          </a:xfrm>
          <a:prstGeom prst="rect">
            <a:avLst/>
          </a:prstGeom>
          <a:noFill/>
          <a:ln/>
        </p:spPr>
        <p:txBody>
          <a:bodyPr wrap="none" lIns="0" tIns="0" rIns="0" bIns="0" rtlCol="0" anchor="t"/>
          <a:lstStyle/>
          <a:p>
            <a:pPr algn="l" indent="0" marL="0">
              <a:lnSpc>
                <a:spcPts val="2150"/>
              </a:lnSpc>
              <a:buNone/>
            </a:pPr>
            <a:r>
              <a:rPr lang="en-US" sz="1700" dirty="0">
                <a:solidFill>
                  <a:srgbClr val="D9E1FF"/>
                </a:solidFill>
                <a:latin typeface="Kanit" pitchFamily="34" charset="0"/>
                <a:ea typeface="Kanit" pitchFamily="34" charset="-122"/>
                <a:cs typeface="Kanit" pitchFamily="34" charset="-120"/>
              </a:rPr>
              <a:t>Location Tracking</a:t>
            </a:r>
            <a:endParaRPr lang="en-US" sz="1700" dirty="0"/>
          </a:p>
        </p:txBody>
      </p:sp>
      <p:sp>
        <p:nvSpPr>
          <p:cNvPr id="13" name="Text 7"/>
          <p:cNvSpPr/>
          <p:nvPr/>
        </p:nvSpPr>
        <p:spPr>
          <a:xfrm>
            <a:off x="1844993" y="6006108"/>
            <a:ext cx="6552843" cy="282178"/>
          </a:xfrm>
          <a:prstGeom prst="rect">
            <a:avLst/>
          </a:prstGeom>
          <a:noFill/>
          <a:ln/>
        </p:spPr>
        <p:txBody>
          <a:bodyPr wrap="none" lIns="0" tIns="0" rIns="0" bIns="0" rtlCol="0" anchor="t"/>
          <a:lstStyle/>
          <a:p>
            <a:pPr algn="l" indent="0" marL="0">
              <a:lnSpc>
                <a:spcPts val="2200"/>
              </a:lnSpc>
              <a:buNone/>
            </a:pPr>
            <a:r>
              <a:rPr lang="en-US" sz="1450" dirty="0">
                <a:solidFill>
                  <a:srgbClr val="D9E1FF"/>
                </a:solidFill>
                <a:latin typeface="Martel Sans Light" pitchFamily="34" charset="0"/>
                <a:ea typeface="Martel Sans Light" pitchFamily="34" charset="-122"/>
                <a:cs typeface="Martel Sans Light" pitchFamily="34" charset="-120"/>
              </a:rPr>
              <a:t>Attach exact locations</a:t>
            </a:r>
            <a:endParaRPr lang="en-US" sz="1450" dirty="0"/>
          </a:p>
        </p:txBody>
      </p:sp>
      <p:pic>
        <p:nvPicPr>
          <p:cNvPr id="14" name="Image 4" descr="preencoded.png">    </p:cNvPr>
          <p:cNvPicPr>
            <a:picLocks noChangeAspect="1"/>
          </p:cNvPicPr>
          <p:nvPr/>
        </p:nvPicPr>
        <p:blipFill>
          <a:blip r:embed="rId5"/>
          <a:stretch>
            <a:fillRect/>
          </a:stretch>
        </p:blipFill>
        <p:spPr>
          <a:xfrm>
            <a:off x="746165" y="6564987"/>
            <a:ext cx="932736" cy="1119187"/>
          </a:xfrm>
          <a:prstGeom prst="rect">
            <a:avLst/>
          </a:prstGeom>
        </p:spPr>
      </p:pic>
      <p:sp>
        <p:nvSpPr>
          <p:cNvPr id="15" name="Text 8"/>
          <p:cNvSpPr/>
          <p:nvPr/>
        </p:nvSpPr>
        <p:spPr>
          <a:xfrm>
            <a:off x="1844993" y="6751439"/>
            <a:ext cx="2194679" cy="274201"/>
          </a:xfrm>
          <a:prstGeom prst="rect">
            <a:avLst/>
          </a:prstGeom>
          <a:noFill/>
          <a:ln/>
        </p:spPr>
        <p:txBody>
          <a:bodyPr wrap="none" lIns="0" tIns="0" rIns="0" bIns="0" rtlCol="0" anchor="t"/>
          <a:lstStyle/>
          <a:p>
            <a:pPr algn="l" indent="0" marL="0">
              <a:lnSpc>
                <a:spcPts val="2150"/>
              </a:lnSpc>
              <a:buNone/>
            </a:pPr>
            <a:r>
              <a:rPr lang="en-US" sz="1700" dirty="0">
                <a:solidFill>
                  <a:srgbClr val="D9E1FF"/>
                </a:solidFill>
                <a:latin typeface="Kanit" pitchFamily="34" charset="0"/>
                <a:ea typeface="Kanit" pitchFamily="34" charset="-122"/>
                <a:cs typeface="Kanit" pitchFamily="34" charset="-120"/>
              </a:rPr>
              <a:t>Status Updates</a:t>
            </a:r>
            <a:endParaRPr lang="en-US" sz="1700" dirty="0"/>
          </a:p>
        </p:txBody>
      </p:sp>
      <p:sp>
        <p:nvSpPr>
          <p:cNvPr id="16" name="Text 9"/>
          <p:cNvSpPr/>
          <p:nvPr/>
        </p:nvSpPr>
        <p:spPr>
          <a:xfrm>
            <a:off x="1844993" y="7125295"/>
            <a:ext cx="6552843" cy="282178"/>
          </a:xfrm>
          <a:prstGeom prst="rect">
            <a:avLst/>
          </a:prstGeom>
          <a:noFill/>
          <a:ln/>
        </p:spPr>
        <p:txBody>
          <a:bodyPr wrap="none" lIns="0" tIns="0" rIns="0" bIns="0" rtlCol="0" anchor="t"/>
          <a:lstStyle/>
          <a:p>
            <a:pPr algn="l" indent="0" marL="0">
              <a:lnSpc>
                <a:spcPts val="2200"/>
              </a:lnSpc>
              <a:buNone/>
            </a:pPr>
            <a:r>
              <a:rPr lang="en-US" sz="1450" dirty="0">
                <a:solidFill>
                  <a:srgbClr val="D9E1FF"/>
                </a:solidFill>
                <a:latin typeface="Martel Sans Light" pitchFamily="34" charset="0"/>
                <a:ea typeface="Martel Sans Light" pitchFamily="34" charset="-122"/>
                <a:cs typeface="Martel Sans Light" pitchFamily="34" charset="-120"/>
              </a:rPr>
              <a:t>Track progress in real-time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252061"/>
            <a:ext cx="5946219" cy="615910"/>
          </a:xfrm>
          <a:prstGeom prst="rect">
            <a:avLst/>
          </a:prstGeom>
          <a:noFill/>
          <a:ln/>
        </p:spPr>
        <p:txBody>
          <a:bodyPr wrap="none" lIns="0" tIns="0" rIns="0" bIns="0" rtlCol="0" anchor="t"/>
          <a:lstStyle/>
          <a:p>
            <a:pPr algn="l" indent="0" marL="0">
              <a:lnSpc>
                <a:spcPts val="4850"/>
              </a:lnSpc>
              <a:buNone/>
            </a:pPr>
            <a:r>
              <a:rPr lang="en-US" sz="3850" dirty="0">
                <a:solidFill>
                  <a:srgbClr val="FFFFFF"/>
                </a:solidFill>
                <a:latin typeface="Kanit" pitchFamily="34" charset="0"/>
                <a:ea typeface="Kanit" pitchFamily="34" charset="-122"/>
                <a:cs typeface="Kanit" pitchFamily="34" charset="-120"/>
              </a:rPr>
              <a:t>Key Features of the System</a:t>
            </a:r>
            <a:endParaRPr lang="en-US" sz="3850" dirty="0"/>
          </a:p>
        </p:txBody>
      </p:sp>
      <p:pic>
        <p:nvPicPr>
          <p:cNvPr id="3" name="Image 0" descr="preencoded.png">    </p:cNvPr>
          <p:cNvPicPr>
            <a:picLocks noChangeAspect="1"/>
          </p:cNvPicPr>
          <p:nvPr/>
        </p:nvPicPr>
        <p:blipFill>
          <a:blip r:embed="rId1"/>
          <a:stretch>
            <a:fillRect/>
          </a:stretch>
        </p:blipFill>
        <p:spPr>
          <a:xfrm>
            <a:off x="837724" y="2286833"/>
            <a:ext cx="3042285" cy="3042285"/>
          </a:xfrm>
          <a:prstGeom prst="rect">
            <a:avLst/>
          </a:prstGeom>
        </p:spPr>
      </p:pic>
      <p:sp>
        <p:nvSpPr>
          <p:cNvPr id="4" name="Text 1"/>
          <p:cNvSpPr/>
          <p:nvPr/>
        </p:nvSpPr>
        <p:spPr>
          <a:xfrm>
            <a:off x="837724" y="5538549"/>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Secure User Login</a:t>
            </a:r>
            <a:endParaRPr lang="en-US" sz="1900" dirty="0"/>
          </a:p>
        </p:txBody>
      </p:sp>
      <p:sp>
        <p:nvSpPr>
          <p:cNvPr id="5" name="Text 2"/>
          <p:cNvSpPr/>
          <p:nvPr/>
        </p:nvSpPr>
        <p:spPr>
          <a:xfrm>
            <a:off x="837724" y="5972175"/>
            <a:ext cx="3042285" cy="1005126"/>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Encrypted authentication protects user information and ensures privacy</a:t>
            </a:r>
            <a:endParaRPr lang="en-US" sz="1600" dirty="0"/>
          </a:p>
        </p:txBody>
      </p:sp>
      <p:pic>
        <p:nvPicPr>
          <p:cNvPr id="6" name="Image 1" descr="preencoded.png">    </p:cNvPr>
          <p:cNvPicPr>
            <a:picLocks noChangeAspect="1"/>
          </p:cNvPicPr>
          <p:nvPr/>
        </p:nvPicPr>
        <p:blipFill>
          <a:blip r:embed="rId2"/>
          <a:stretch>
            <a:fillRect/>
          </a:stretch>
        </p:blipFill>
        <p:spPr>
          <a:xfrm>
            <a:off x="4141827" y="2286833"/>
            <a:ext cx="3042404" cy="3042404"/>
          </a:xfrm>
          <a:prstGeom prst="rect">
            <a:avLst/>
          </a:prstGeom>
        </p:spPr>
      </p:pic>
      <p:sp>
        <p:nvSpPr>
          <p:cNvPr id="7" name="Text 3"/>
          <p:cNvSpPr/>
          <p:nvPr/>
        </p:nvSpPr>
        <p:spPr>
          <a:xfrm>
            <a:off x="4141827" y="5538668"/>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Report Submission</a:t>
            </a:r>
            <a:endParaRPr lang="en-US" sz="1900" dirty="0"/>
          </a:p>
        </p:txBody>
      </p:sp>
      <p:sp>
        <p:nvSpPr>
          <p:cNvPr id="8" name="Text 4"/>
          <p:cNvSpPr/>
          <p:nvPr/>
        </p:nvSpPr>
        <p:spPr>
          <a:xfrm>
            <a:off x="4141827" y="5972294"/>
            <a:ext cx="3042404" cy="1005126"/>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Easy-to-use forms with photo upload and location tagging capabilities</a:t>
            </a:r>
            <a:endParaRPr lang="en-US" sz="1600" dirty="0"/>
          </a:p>
        </p:txBody>
      </p:sp>
      <p:pic>
        <p:nvPicPr>
          <p:cNvPr id="9" name="Image 2" descr="preencoded.png">    </p:cNvPr>
          <p:cNvPicPr>
            <a:picLocks noChangeAspect="1"/>
          </p:cNvPicPr>
          <p:nvPr/>
        </p:nvPicPr>
        <p:blipFill>
          <a:blip r:embed="rId3"/>
          <a:stretch>
            <a:fillRect/>
          </a:stretch>
        </p:blipFill>
        <p:spPr>
          <a:xfrm>
            <a:off x="7446050" y="2286833"/>
            <a:ext cx="3042404" cy="3042404"/>
          </a:xfrm>
          <a:prstGeom prst="rect">
            <a:avLst/>
          </a:prstGeom>
        </p:spPr>
      </p:pic>
      <p:sp>
        <p:nvSpPr>
          <p:cNvPr id="10" name="Text 5"/>
          <p:cNvSpPr/>
          <p:nvPr/>
        </p:nvSpPr>
        <p:spPr>
          <a:xfrm>
            <a:off x="7446050" y="5538668"/>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Progress Tracking</a:t>
            </a:r>
            <a:endParaRPr lang="en-US" sz="1900" dirty="0"/>
          </a:p>
        </p:txBody>
      </p:sp>
      <p:sp>
        <p:nvSpPr>
          <p:cNvPr id="11" name="Text 6"/>
          <p:cNvSpPr/>
          <p:nvPr/>
        </p:nvSpPr>
        <p:spPr>
          <a:xfrm>
            <a:off x="7446050" y="5972294"/>
            <a:ext cx="3042404" cy="1005126"/>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Real-time updates show where your report is in the resolution process</a:t>
            </a:r>
            <a:endParaRPr lang="en-US" sz="1600" dirty="0"/>
          </a:p>
        </p:txBody>
      </p:sp>
      <p:pic>
        <p:nvPicPr>
          <p:cNvPr id="12" name="Image 3" descr="preencoded.png">    </p:cNvPr>
          <p:cNvPicPr>
            <a:picLocks noChangeAspect="1"/>
          </p:cNvPicPr>
          <p:nvPr/>
        </p:nvPicPr>
        <p:blipFill>
          <a:blip r:embed="rId4"/>
          <a:stretch>
            <a:fillRect/>
          </a:stretch>
        </p:blipFill>
        <p:spPr>
          <a:xfrm>
            <a:off x="10750272" y="2286833"/>
            <a:ext cx="3042404" cy="3042404"/>
          </a:xfrm>
          <a:prstGeom prst="rect">
            <a:avLst/>
          </a:prstGeom>
        </p:spPr>
      </p:pic>
      <p:sp>
        <p:nvSpPr>
          <p:cNvPr id="13" name="Text 7"/>
          <p:cNvSpPr/>
          <p:nvPr/>
        </p:nvSpPr>
        <p:spPr>
          <a:xfrm>
            <a:off x="10750272" y="5538668"/>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Admin Dashboard</a:t>
            </a:r>
            <a:endParaRPr lang="en-US" sz="1900" dirty="0"/>
          </a:p>
        </p:txBody>
      </p:sp>
      <p:sp>
        <p:nvSpPr>
          <p:cNvPr id="14" name="Text 8"/>
          <p:cNvSpPr/>
          <p:nvPr/>
        </p:nvSpPr>
        <p:spPr>
          <a:xfrm>
            <a:off x="10750272" y="5972294"/>
            <a:ext cx="3042404" cy="1005126"/>
          </a:xfrm>
          <a:prstGeom prst="rect">
            <a:avLst/>
          </a:prstGeom>
          <a:noFill/>
          <a:ln/>
        </p:spPr>
        <p:txBody>
          <a:bodyPr wrap="square" lIns="0" tIns="0" rIns="0" bIns="0" rtlCol="0" anchor="t"/>
          <a:lstStyle/>
          <a:p>
            <a:pPr algn="l" indent="0" marL="0">
              <a:lnSpc>
                <a:spcPts val="2600"/>
              </a:lnSpc>
              <a:buNone/>
            </a:pPr>
            <a:r>
              <a:rPr lang="en-US" sz="1600" dirty="0">
                <a:solidFill>
                  <a:srgbClr val="D9E1FF"/>
                </a:solidFill>
                <a:latin typeface="Martel Sans Light" pitchFamily="34" charset="0"/>
                <a:ea typeface="Martel Sans Light" pitchFamily="34" charset="-122"/>
                <a:cs typeface="Martel Sans Light" pitchFamily="34" charset="-120"/>
              </a:rPr>
              <a:t>Comprehensive tools for managing reports, users, and analytics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335768" y="466844"/>
            <a:ext cx="3157180" cy="394692"/>
          </a:xfrm>
          <a:prstGeom prst="rect">
            <a:avLst/>
          </a:prstGeom>
          <a:noFill/>
          <a:ln/>
        </p:spPr>
        <p:txBody>
          <a:bodyPr wrap="none" lIns="0" tIns="0" rIns="0" bIns="0" rtlCol="0" anchor="t"/>
          <a:lstStyle/>
          <a:p>
            <a:pPr algn="l" indent="0" marL="0">
              <a:lnSpc>
                <a:spcPts val="3100"/>
              </a:lnSpc>
              <a:buNone/>
            </a:pPr>
            <a:r>
              <a:rPr lang="en-US" sz="2450" dirty="0">
                <a:solidFill>
                  <a:srgbClr val="FFFFFF"/>
                </a:solidFill>
                <a:latin typeface="Kanit" pitchFamily="34" charset="0"/>
                <a:ea typeface="Kanit" pitchFamily="34" charset="-122"/>
                <a:cs typeface="Kanit" pitchFamily="34" charset="-120"/>
              </a:rPr>
              <a:t>System Architecture</a:t>
            </a:r>
            <a:endParaRPr lang="en-US" sz="2450" dirty="0"/>
          </a:p>
        </p:txBody>
      </p:sp>
      <p:sp>
        <p:nvSpPr>
          <p:cNvPr id="3" name="Text 1"/>
          <p:cNvSpPr/>
          <p:nvPr/>
        </p:nvSpPr>
        <p:spPr>
          <a:xfrm>
            <a:off x="2335768" y="1033343"/>
            <a:ext cx="9958864" cy="176093"/>
          </a:xfrm>
          <a:prstGeom prst="rect">
            <a:avLst/>
          </a:prstGeom>
          <a:noFill/>
          <a:ln/>
        </p:spPr>
        <p:txBody>
          <a:bodyPr wrap="none" lIns="0" tIns="0" rIns="0" bIns="0" rtlCol="0" anchor="t"/>
          <a:lstStyle/>
          <a:p>
            <a:pPr algn="l" indent="0" marL="0">
              <a:lnSpc>
                <a:spcPts val="1350"/>
              </a:lnSpc>
              <a:buNone/>
            </a:pPr>
            <a:r>
              <a:rPr lang="en-US" sz="1050" dirty="0">
                <a:solidFill>
                  <a:srgbClr val="D9E1FF"/>
                </a:solidFill>
                <a:latin typeface="Martel Sans Light" pitchFamily="34" charset="0"/>
                <a:ea typeface="Martel Sans Light" pitchFamily="34" charset="-122"/>
                <a:cs typeface="Martel Sans Light" pitchFamily="34" charset="-120"/>
              </a:rPr>
              <a:t>Our system follows a three-tier architecture that separates presentation, logic, and data layers for better maintainability and scalability.</a:t>
            </a:r>
            <a:endParaRPr lang="en-US" sz="1050" dirty="0"/>
          </a:p>
        </p:txBody>
      </p:sp>
      <p:sp>
        <p:nvSpPr>
          <p:cNvPr id="4" name="Shape 2"/>
          <p:cNvSpPr/>
          <p:nvPr/>
        </p:nvSpPr>
        <p:spPr>
          <a:xfrm>
            <a:off x="2536984" y="1842849"/>
            <a:ext cx="3060978" cy="134183"/>
          </a:xfrm>
          <a:prstGeom prst="roundRect">
            <a:avLst>
              <a:gd name="adj" fmla="val 15000"/>
            </a:avLst>
          </a:prstGeom>
          <a:solidFill>
            <a:srgbClr val="2F2B54"/>
          </a:solidFill>
          <a:ln/>
        </p:spPr>
      </p:sp>
      <p:sp>
        <p:nvSpPr>
          <p:cNvPr id="5" name="Shape 3"/>
          <p:cNvSpPr/>
          <p:nvPr/>
        </p:nvSpPr>
        <p:spPr>
          <a:xfrm>
            <a:off x="2335768" y="1708606"/>
            <a:ext cx="402550" cy="402550"/>
          </a:xfrm>
          <a:prstGeom prst="roundRect">
            <a:avLst>
              <a:gd name="adj" fmla="val 113576"/>
            </a:avLst>
          </a:prstGeom>
          <a:solidFill>
            <a:srgbClr val="2F2B5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36376" y="1809214"/>
            <a:ext cx="201216" cy="201216"/>
          </a:xfrm>
          <a:prstGeom prst="rect">
            <a:avLst/>
          </a:prstGeom>
        </p:spPr>
      </p:pic>
      <p:sp>
        <p:nvSpPr>
          <p:cNvPr id="7" name="Text 4"/>
          <p:cNvSpPr/>
          <p:nvPr/>
        </p:nvSpPr>
        <p:spPr>
          <a:xfrm>
            <a:off x="2469952" y="2197060"/>
            <a:ext cx="1578531" cy="197287"/>
          </a:xfrm>
          <a:prstGeom prst="rect">
            <a:avLst/>
          </a:prstGeom>
          <a:noFill/>
          <a:ln/>
        </p:spPr>
        <p:txBody>
          <a:bodyPr wrap="none" lIns="0" tIns="0" rIns="0" bIns="0" rtlCol="0" anchor="t"/>
          <a:lstStyle/>
          <a:p>
            <a:pPr algn="l" indent="0" marL="0">
              <a:lnSpc>
                <a:spcPts val="1550"/>
              </a:lnSpc>
              <a:buNone/>
            </a:pPr>
            <a:r>
              <a:rPr lang="en-US" sz="1200" dirty="0">
                <a:solidFill>
                  <a:srgbClr val="D9E1FF"/>
                </a:solidFill>
                <a:latin typeface="Kanit" pitchFamily="34" charset="0"/>
                <a:ea typeface="Kanit" pitchFamily="34" charset="-122"/>
                <a:cs typeface="Kanit" pitchFamily="34" charset="-120"/>
              </a:rPr>
              <a:t>Frontend Layer</a:t>
            </a:r>
            <a:endParaRPr lang="en-US" sz="1200" dirty="0"/>
          </a:p>
        </p:txBody>
      </p:sp>
      <p:sp>
        <p:nvSpPr>
          <p:cNvPr id="8" name="Text 5"/>
          <p:cNvSpPr/>
          <p:nvPr/>
        </p:nvSpPr>
        <p:spPr>
          <a:xfrm>
            <a:off x="2469952" y="2445901"/>
            <a:ext cx="2993946" cy="528280"/>
          </a:xfrm>
          <a:prstGeom prst="rect">
            <a:avLst/>
          </a:prstGeom>
          <a:noFill/>
          <a:ln/>
        </p:spPr>
        <p:txBody>
          <a:bodyPr wrap="square" lIns="0" tIns="0" rIns="0" bIns="0" rtlCol="0" anchor="t"/>
          <a:lstStyle/>
          <a:p>
            <a:pPr algn="l" indent="0" marL="0">
              <a:lnSpc>
                <a:spcPts val="1350"/>
              </a:lnSpc>
              <a:buNone/>
            </a:pPr>
            <a:r>
              <a:rPr lang="en-US" sz="1050" dirty="0">
                <a:solidFill>
                  <a:srgbClr val="D9E1FF"/>
                </a:solidFill>
                <a:latin typeface="Martel Sans Light" pitchFamily="34" charset="0"/>
                <a:ea typeface="Martel Sans Light" pitchFamily="34" charset="-122"/>
                <a:cs typeface="Martel Sans Light" pitchFamily="34" charset="-120"/>
              </a:rPr>
              <a:t>User interface built with modern web technologies (HTML, CSS, JavaScript) that provides responsive design across devices</a:t>
            </a:r>
            <a:endParaRPr lang="en-US" sz="1050" dirty="0"/>
          </a:p>
        </p:txBody>
      </p:sp>
      <p:sp>
        <p:nvSpPr>
          <p:cNvPr id="9" name="Shape 6"/>
          <p:cNvSpPr/>
          <p:nvPr/>
        </p:nvSpPr>
        <p:spPr>
          <a:xfrm>
            <a:off x="5885140" y="1641515"/>
            <a:ext cx="3061097" cy="134183"/>
          </a:xfrm>
          <a:prstGeom prst="roundRect">
            <a:avLst>
              <a:gd name="adj" fmla="val 15000"/>
            </a:avLst>
          </a:prstGeom>
          <a:solidFill>
            <a:srgbClr val="2F2B54"/>
          </a:solidFill>
          <a:ln/>
        </p:spPr>
      </p:sp>
      <p:sp>
        <p:nvSpPr>
          <p:cNvPr id="10" name="Shape 7"/>
          <p:cNvSpPr/>
          <p:nvPr/>
        </p:nvSpPr>
        <p:spPr>
          <a:xfrm>
            <a:off x="5683925" y="1507272"/>
            <a:ext cx="402550" cy="402550"/>
          </a:xfrm>
          <a:prstGeom prst="roundRect">
            <a:avLst>
              <a:gd name="adj" fmla="val 113576"/>
            </a:avLst>
          </a:prstGeom>
          <a:solidFill>
            <a:srgbClr val="2F2B54"/>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84532" y="1607880"/>
            <a:ext cx="201216" cy="201216"/>
          </a:xfrm>
          <a:prstGeom prst="rect">
            <a:avLst/>
          </a:prstGeom>
        </p:spPr>
      </p:pic>
      <p:sp>
        <p:nvSpPr>
          <p:cNvPr id="12" name="Text 8"/>
          <p:cNvSpPr/>
          <p:nvPr/>
        </p:nvSpPr>
        <p:spPr>
          <a:xfrm>
            <a:off x="5818108" y="1995726"/>
            <a:ext cx="1578531" cy="197287"/>
          </a:xfrm>
          <a:prstGeom prst="rect">
            <a:avLst/>
          </a:prstGeom>
          <a:noFill/>
          <a:ln/>
        </p:spPr>
        <p:txBody>
          <a:bodyPr wrap="none" lIns="0" tIns="0" rIns="0" bIns="0" rtlCol="0" anchor="t"/>
          <a:lstStyle/>
          <a:p>
            <a:pPr algn="l" indent="0" marL="0">
              <a:lnSpc>
                <a:spcPts val="1550"/>
              </a:lnSpc>
              <a:buNone/>
            </a:pPr>
            <a:r>
              <a:rPr lang="en-US" sz="1200" dirty="0">
                <a:solidFill>
                  <a:srgbClr val="D9E1FF"/>
                </a:solidFill>
                <a:latin typeface="Kanit" pitchFamily="34" charset="0"/>
                <a:ea typeface="Kanit" pitchFamily="34" charset="-122"/>
                <a:cs typeface="Kanit" pitchFamily="34" charset="-120"/>
              </a:rPr>
              <a:t>Backend Layer</a:t>
            </a:r>
            <a:endParaRPr lang="en-US" sz="1200" dirty="0"/>
          </a:p>
        </p:txBody>
      </p:sp>
      <p:sp>
        <p:nvSpPr>
          <p:cNvPr id="13" name="Text 9"/>
          <p:cNvSpPr/>
          <p:nvPr/>
        </p:nvSpPr>
        <p:spPr>
          <a:xfrm>
            <a:off x="5818108" y="2244566"/>
            <a:ext cx="2994065" cy="528280"/>
          </a:xfrm>
          <a:prstGeom prst="rect">
            <a:avLst/>
          </a:prstGeom>
          <a:noFill/>
          <a:ln/>
        </p:spPr>
        <p:txBody>
          <a:bodyPr wrap="square" lIns="0" tIns="0" rIns="0" bIns="0" rtlCol="0" anchor="t"/>
          <a:lstStyle/>
          <a:p>
            <a:pPr algn="l" indent="0" marL="0">
              <a:lnSpc>
                <a:spcPts val="1350"/>
              </a:lnSpc>
              <a:buNone/>
            </a:pPr>
            <a:r>
              <a:rPr lang="en-US" sz="1050" dirty="0">
                <a:solidFill>
                  <a:srgbClr val="D9E1FF"/>
                </a:solidFill>
                <a:latin typeface="Martel Sans Light" pitchFamily="34" charset="0"/>
                <a:ea typeface="Martel Sans Light" pitchFamily="34" charset="-122"/>
                <a:cs typeface="Martel Sans Light" pitchFamily="34" charset="-120"/>
              </a:rPr>
              <a:t>Server-side logic handling authentication, report processing, notifications, and business rules</a:t>
            </a:r>
            <a:endParaRPr lang="en-US" sz="1050" dirty="0"/>
          </a:p>
        </p:txBody>
      </p:sp>
      <p:sp>
        <p:nvSpPr>
          <p:cNvPr id="14" name="Shape 10"/>
          <p:cNvSpPr/>
          <p:nvPr/>
        </p:nvSpPr>
        <p:spPr>
          <a:xfrm>
            <a:off x="9233416" y="1440299"/>
            <a:ext cx="3060978" cy="134183"/>
          </a:xfrm>
          <a:prstGeom prst="roundRect">
            <a:avLst>
              <a:gd name="adj" fmla="val 15000"/>
            </a:avLst>
          </a:prstGeom>
          <a:solidFill>
            <a:srgbClr val="2F2B54"/>
          </a:solidFill>
          <a:ln/>
        </p:spPr>
      </p:sp>
      <p:sp>
        <p:nvSpPr>
          <p:cNvPr id="15" name="Shape 11"/>
          <p:cNvSpPr/>
          <p:nvPr/>
        </p:nvSpPr>
        <p:spPr>
          <a:xfrm>
            <a:off x="9032200" y="1306056"/>
            <a:ext cx="402550" cy="402550"/>
          </a:xfrm>
          <a:prstGeom prst="roundRect">
            <a:avLst>
              <a:gd name="adj" fmla="val 113576"/>
            </a:avLst>
          </a:prstGeom>
          <a:solidFill>
            <a:srgbClr val="2F2B54"/>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32808" y="1406664"/>
            <a:ext cx="201216" cy="201216"/>
          </a:xfrm>
          <a:prstGeom prst="rect">
            <a:avLst/>
          </a:prstGeom>
        </p:spPr>
      </p:pic>
      <p:sp>
        <p:nvSpPr>
          <p:cNvPr id="17" name="Text 12"/>
          <p:cNvSpPr/>
          <p:nvPr/>
        </p:nvSpPr>
        <p:spPr>
          <a:xfrm>
            <a:off x="9166384" y="1794510"/>
            <a:ext cx="1578531" cy="197287"/>
          </a:xfrm>
          <a:prstGeom prst="rect">
            <a:avLst/>
          </a:prstGeom>
          <a:noFill/>
          <a:ln/>
        </p:spPr>
        <p:txBody>
          <a:bodyPr wrap="none" lIns="0" tIns="0" rIns="0" bIns="0" rtlCol="0" anchor="t"/>
          <a:lstStyle/>
          <a:p>
            <a:pPr algn="l" indent="0" marL="0">
              <a:lnSpc>
                <a:spcPts val="1550"/>
              </a:lnSpc>
              <a:buNone/>
            </a:pPr>
            <a:r>
              <a:rPr lang="en-US" sz="1200" dirty="0">
                <a:solidFill>
                  <a:srgbClr val="D9E1FF"/>
                </a:solidFill>
                <a:latin typeface="Kanit" pitchFamily="34" charset="0"/>
                <a:ea typeface="Kanit" pitchFamily="34" charset="-122"/>
                <a:cs typeface="Kanit" pitchFamily="34" charset="-120"/>
              </a:rPr>
              <a:t>Database Layer</a:t>
            </a:r>
            <a:endParaRPr lang="en-US" sz="1200" dirty="0"/>
          </a:p>
        </p:txBody>
      </p:sp>
      <p:sp>
        <p:nvSpPr>
          <p:cNvPr id="18" name="Text 13"/>
          <p:cNvSpPr/>
          <p:nvPr/>
        </p:nvSpPr>
        <p:spPr>
          <a:xfrm>
            <a:off x="9166384" y="2043351"/>
            <a:ext cx="2993946" cy="352187"/>
          </a:xfrm>
          <a:prstGeom prst="rect">
            <a:avLst/>
          </a:prstGeom>
          <a:noFill/>
          <a:ln/>
        </p:spPr>
        <p:txBody>
          <a:bodyPr wrap="square" lIns="0" tIns="0" rIns="0" bIns="0" rtlCol="0" anchor="t"/>
          <a:lstStyle/>
          <a:p>
            <a:pPr algn="l" indent="0" marL="0">
              <a:lnSpc>
                <a:spcPts val="1350"/>
              </a:lnSpc>
              <a:buNone/>
            </a:pPr>
            <a:r>
              <a:rPr lang="en-US" sz="1050" dirty="0">
                <a:solidFill>
                  <a:srgbClr val="D9E1FF"/>
                </a:solidFill>
                <a:latin typeface="Martel Sans Light" pitchFamily="34" charset="0"/>
                <a:ea typeface="Martel Sans Light" pitchFamily="34" charset="-122"/>
                <a:cs typeface="Martel Sans Light" pitchFamily="34" charset="-120"/>
              </a:rPr>
              <a:t>Structured data storage for user accounts, reports, locations, and status updates</a:t>
            </a:r>
            <a:endParaRPr lang="en-US" sz="1050" dirty="0"/>
          </a:p>
        </p:txBody>
      </p:sp>
      <p:pic>
        <p:nvPicPr>
          <p:cNvPr id="19" name="Image 3" descr="preencoded.png">    </p:cNvPr>
          <p:cNvPicPr>
            <a:picLocks noChangeAspect="1"/>
          </p:cNvPicPr>
          <p:nvPr/>
        </p:nvPicPr>
        <p:blipFill>
          <a:blip r:embed="rId7"/>
          <a:stretch>
            <a:fillRect/>
          </a:stretch>
        </p:blipFill>
        <p:spPr>
          <a:xfrm>
            <a:off x="2335768" y="3205043"/>
            <a:ext cx="9958864" cy="4557593"/>
          </a:xfrm>
          <a:prstGeom prst="rect">
            <a:avLst/>
          </a:prstGeom>
        </p:spPr>
      </p:pic>
      <p:sp>
        <p:nvSpPr>
          <p:cNvPr id="20" name="Text 14"/>
          <p:cNvSpPr/>
          <p:nvPr/>
        </p:nvSpPr>
        <p:spPr>
          <a:xfrm>
            <a:off x="9630661" y="3830422"/>
            <a:ext cx="2073255" cy="259004"/>
          </a:xfrm>
          <a:prstGeom prst="rect">
            <a:avLst/>
          </a:prstGeom>
          <a:noFill/>
          <a:ln/>
        </p:spPr>
        <p:txBody>
          <a:bodyPr wrap="none" lIns="0" tIns="0" rIns="0" bIns="0" rtlCol="0" anchor="t"/>
          <a:lstStyle/>
          <a:p>
            <a:pPr algn="l" indent="0" marL="0">
              <a:lnSpc>
                <a:spcPts val="2000"/>
              </a:lnSpc>
              <a:buNone/>
            </a:pPr>
            <a:r>
              <a:rPr lang="en-US" sz="1600" dirty="0">
                <a:solidFill>
                  <a:srgbClr val="D9E1FF"/>
                </a:solidFill>
                <a:latin typeface="Kanit" pitchFamily="34" charset="0"/>
                <a:ea typeface="Kanit" pitchFamily="34" charset="-122"/>
                <a:cs typeface="Kanit" pitchFamily="34" charset="-120"/>
              </a:rPr>
              <a:t>Database</a:t>
            </a:r>
            <a:endParaRPr lang="en-US" sz="1600" dirty="0"/>
          </a:p>
        </p:txBody>
      </p:sp>
      <p:sp>
        <p:nvSpPr>
          <p:cNvPr id="21" name="Text 15"/>
          <p:cNvSpPr/>
          <p:nvPr/>
        </p:nvSpPr>
        <p:spPr>
          <a:xfrm>
            <a:off x="9630661" y="4167755"/>
            <a:ext cx="2428180" cy="361351"/>
          </a:xfrm>
          <a:prstGeom prst="rect">
            <a:avLst/>
          </a:prstGeom>
          <a:noFill/>
          <a:ln/>
        </p:spPr>
        <p:txBody>
          <a:bodyPr wrap="square" lIns="0" tIns="0" rIns="0" bIns="0" rtlCol="0" anchor="t"/>
          <a:lstStyle/>
          <a:p>
            <a:pPr algn="l" indent="0" marL="0">
              <a:lnSpc>
                <a:spcPts val="1400"/>
              </a:lnSpc>
              <a:buNone/>
            </a:pPr>
            <a:r>
              <a:rPr lang="en-US" sz="1350" dirty="0">
                <a:solidFill>
                  <a:srgbClr val="D9E1FF"/>
                </a:solidFill>
                <a:latin typeface="Martel Sans Light" pitchFamily="34" charset="0"/>
                <a:ea typeface="Martel Sans Light" pitchFamily="34" charset="-122"/>
                <a:cs typeface="Martel Sans Light" pitchFamily="34" charset="-120"/>
              </a:rPr>
              <a:t>Persistent storage and data management</a:t>
            </a:r>
            <a:endParaRPr lang="en-US" sz="1350" dirty="0"/>
          </a:p>
        </p:txBody>
      </p:sp>
      <p:sp>
        <p:nvSpPr>
          <p:cNvPr id="22" name="Text 16"/>
          <p:cNvSpPr/>
          <p:nvPr/>
        </p:nvSpPr>
        <p:spPr>
          <a:xfrm>
            <a:off x="2730415" y="5328453"/>
            <a:ext cx="2073256" cy="259004"/>
          </a:xfrm>
          <a:prstGeom prst="rect">
            <a:avLst/>
          </a:prstGeom>
          <a:noFill/>
          <a:ln/>
        </p:spPr>
        <p:txBody>
          <a:bodyPr wrap="none" lIns="0" tIns="0" rIns="0" bIns="0" rtlCol="0" anchor="t"/>
          <a:lstStyle/>
          <a:p>
            <a:pPr algn="r" indent="0" marL="0">
              <a:lnSpc>
                <a:spcPts val="2000"/>
              </a:lnSpc>
              <a:buNone/>
            </a:pPr>
            <a:r>
              <a:rPr lang="en-US" sz="1600" dirty="0">
                <a:solidFill>
                  <a:srgbClr val="D9E1FF"/>
                </a:solidFill>
                <a:latin typeface="Kanit" pitchFamily="34" charset="0"/>
                <a:ea typeface="Kanit" pitchFamily="34" charset="-122"/>
                <a:cs typeface="Kanit" pitchFamily="34" charset="-120"/>
              </a:rPr>
              <a:t>Backend</a:t>
            </a:r>
            <a:endParaRPr lang="en-US" sz="1600" dirty="0"/>
          </a:p>
        </p:txBody>
      </p:sp>
      <p:sp>
        <p:nvSpPr>
          <p:cNvPr id="23" name="Text 17"/>
          <p:cNvSpPr/>
          <p:nvPr/>
        </p:nvSpPr>
        <p:spPr>
          <a:xfrm>
            <a:off x="2571310" y="5665786"/>
            <a:ext cx="2232360" cy="361351"/>
          </a:xfrm>
          <a:prstGeom prst="rect">
            <a:avLst/>
          </a:prstGeom>
          <a:noFill/>
          <a:ln/>
        </p:spPr>
        <p:txBody>
          <a:bodyPr wrap="square" lIns="0" tIns="0" rIns="0" bIns="0" rtlCol="0" anchor="t"/>
          <a:lstStyle/>
          <a:p>
            <a:pPr algn="r" indent="0" marL="0">
              <a:lnSpc>
                <a:spcPts val="1400"/>
              </a:lnSpc>
              <a:buNone/>
            </a:pPr>
            <a:r>
              <a:rPr lang="en-US" sz="1350" dirty="0">
                <a:solidFill>
                  <a:srgbClr val="D9E1FF"/>
                </a:solidFill>
                <a:latin typeface="Martel Sans Light" pitchFamily="34" charset="0"/>
                <a:ea typeface="Martel Sans Light" pitchFamily="34" charset="-122"/>
                <a:cs typeface="Martel Sans Light" pitchFamily="34" charset="-120"/>
              </a:rPr>
              <a:t>Application logic, APIs, and business rules</a:t>
            </a:r>
            <a:endParaRPr lang="en-US" sz="1350" dirty="0"/>
          </a:p>
        </p:txBody>
      </p:sp>
      <p:sp>
        <p:nvSpPr>
          <p:cNvPr id="24" name="Text 18"/>
          <p:cNvSpPr/>
          <p:nvPr/>
        </p:nvSpPr>
        <p:spPr>
          <a:xfrm>
            <a:off x="9630661" y="6101947"/>
            <a:ext cx="2073255" cy="259004"/>
          </a:xfrm>
          <a:prstGeom prst="rect">
            <a:avLst/>
          </a:prstGeom>
          <a:noFill/>
          <a:ln/>
        </p:spPr>
        <p:txBody>
          <a:bodyPr wrap="none" lIns="0" tIns="0" rIns="0" bIns="0" rtlCol="0" anchor="t"/>
          <a:lstStyle/>
          <a:p>
            <a:pPr algn="l" indent="0" marL="0">
              <a:lnSpc>
                <a:spcPts val="2000"/>
              </a:lnSpc>
              <a:buNone/>
            </a:pPr>
            <a:r>
              <a:rPr lang="en-US" sz="1600" dirty="0">
                <a:solidFill>
                  <a:srgbClr val="D9E1FF"/>
                </a:solidFill>
                <a:latin typeface="Kanit" pitchFamily="34" charset="0"/>
                <a:ea typeface="Kanit" pitchFamily="34" charset="-122"/>
                <a:cs typeface="Kanit" pitchFamily="34" charset="-120"/>
              </a:rPr>
              <a:t>Frontend</a:t>
            </a:r>
            <a:endParaRPr lang="en-US" sz="1600" dirty="0"/>
          </a:p>
        </p:txBody>
      </p:sp>
      <p:sp>
        <p:nvSpPr>
          <p:cNvPr id="25" name="Text 19"/>
          <p:cNvSpPr/>
          <p:nvPr/>
        </p:nvSpPr>
        <p:spPr>
          <a:xfrm>
            <a:off x="9630661" y="6439280"/>
            <a:ext cx="2428180" cy="361351"/>
          </a:xfrm>
          <a:prstGeom prst="rect">
            <a:avLst/>
          </a:prstGeom>
          <a:noFill/>
          <a:ln/>
        </p:spPr>
        <p:txBody>
          <a:bodyPr wrap="square" lIns="0" tIns="0" rIns="0" bIns="0" rtlCol="0" anchor="t"/>
          <a:lstStyle/>
          <a:p>
            <a:pPr algn="l" indent="0" marL="0">
              <a:lnSpc>
                <a:spcPts val="1400"/>
              </a:lnSpc>
              <a:buNone/>
            </a:pPr>
            <a:r>
              <a:rPr lang="en-US" sz="1350" dirty="0">
                <a:solidFill>
                  <a:srgbClr val="D9E1FF"/>
                </a:solidFill>
                <a:latin typeface="Martel Sans Light" pitchFamily="34" charset="0"/>
                <a:ea typeface="Martel Sans Light" pitchFamily="34" charset="-122"/>
                <a:cs typeface="Martel Sans Light" pitchFamily="34" charset="-120"/>
              </a:rPr>
              <a:t>User interface with HTML, CSS, JavaScript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850112"/>
            <a:ext cx="4928354" cy="615910"/>
          </a:xfrm>
          <a:prstGeom prst="rect">
            <a:avLst/>
          </a:prstGeom>
          <a:noFill/>
          <a:ln/>
        </p:spPr>
        <p:txBody>
          <a:bodyPr wrap="none" lIns="0" tIns="0" rIns="0" bIns="0" rtlCol="0" anchor="t"/>
          <a:lstStyle/>
          <a:p>
            <a:pPr algn="l" indent="0" marL="0">
              <a:lnSpc>
                <a:spcPts val="4850"/>
              </a:lnSpc>
              <a:buNone/>
            </a:pPr>
            <a:r>
              <a:rPr lang="en-US" sz="3850" dirty="0">
                <a:solidFill>
                  <a:srgbClr val="FFFFFF"/>
                </a:solidFill>
                <a:latin typeface="Kanit" pitchFamily="34" charset="0"/>
                <a:ea typeface="Kanit" pitchFamily="34" charset="-122"/>
                <a:cs typeface="Kanit" pitchFamily="34" charset="-120"/>
              </a:rPr>
              <a:t>System Modules</a:t>
            </a:r>
            <a:endParaRPr lang="en-US" sz="3850" dirty="0"/>
          </a:p>
        </p:txBody>
      </p:sp>
      <p:sp>
        <p:nvSpPr>
          <p:cNvPr id="3" name="Shape 1"/>
          <p:cNvSpPr/>
          <p:nvPr/>
        </p:nvSpPr>
        <p:spPr>
          <a:xfrm>
            <a:off x="837724" y="2884884"/>
            <a:ext cx="6372701" cy="3494603"/>
          </a:xfrm>
          <a:prstGeom prst="roundRect">
            <a:avLst>
              <a:gd name="adj" fmla="val 899"/>
            </a:avLst>
          </a:prstGeom>
          <a:solidFill>
            <a:srgbClr val="100C35"/>
          </a:solidFill>
          <a:ln w="22860">
            <a:solidFill>
              <a:srgbClr val="48446D"/>
            </a:solidFill>
            <a:prstDash val="solid"/>
          </a:ln>
        </p:spPr>
      </p:sp>
      <p:sp>
        <p:nvSpPr>
          <p:cNvPr id="4" name="Shape 2"/>
          <p:cNvSpPr/>
          <p:nvPr/>
        </p:nvSpPr>
        <p:spPr>
          <a:xfrm>
            <a:off x="860584" y="2907744"/>
            <a:ext cx="6326981" cy="628293"/>
          </a:xfrm>
          <a:prstGeom prst="roundRect">
            <a:avLst>
              <a:gd name="adj" fmla="val 635"/>
            </a:avLst>
          </a:prstGeom>
          <a:solidFill>
            <a:srgbClr val="2F2B5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67031" y="3064788"/>
            <a:ext cx="314087" cy="314087"/>
          </a:xfrm>
          <a:prstGeom prst="rect">
            <a:avLst/>
          </a:prstGeom>
        </p:spPr>
      </p:pic>
      <p:sp>
        <p:nvSpPr>
          <p:cNvPr id="6" name="Text 3"/>
          <p:cNvSpPr/>
          <p:nvPr/>
        </p:nvSpPr>
        <p:spPr>
          <a:xfrm>
            <a:off x="1070015" y="3745468"/>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User Module</a:t>
            </a:r>
            <a:endParaRPr lang="en-US" sz="1900" dirty="0"/>
          </a:p>
        </p:txBody>
      </p:sp>
      <p:sp>
        <p:nvSpPr>
          <p:cNvPr id="7" name="Text 4"/>
          <p:cNvSpPr/>
          <p:nvPr/>
        </p:nvSpPr>
        <p:spPr>
          <a:xfrm>
            <a:off x="1070015" y="4179094"/>
            <a:ext cx="5908119" cy="196810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Account registration and profile management</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Submit new reports with photos and descriptions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View and track existing reports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Receive notifications about report status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Update profile information</a:t>
            </a:r>
            <a:endParaRPr lang="en-US" sz="1600" dirty="0"/>
          </a:p>
        </p:txBody>
      </p:sp>
      <p:sp>
        <p:nvSpPr>
          <p:cNvPr id="8" name="Shape 5"/>
          <p:cNvSpPr/>
          <p:nvPr/>
        </p:nvSpPr>
        <p:spPr>
          <a:xfrm>
            <a:off x="7419856" y="2884884"/>
            <a:ext cx="6372820" cy="3494603"/>
          </a:xfrm>
          <a:prstGeom prst="roundRect">
            <a:avLst>
              <a:gd name="adj" fmla="val 899"/>
            </a:avLst>
          </a:prstGeom>
          <a:solidFill>
            <a:srgbClr val="100C35"/>
          </a:solidFill>
          <a:ln w="22860">
            <a:solidFill>
              <a:srgbClr val="48446D"/>
            </a:solidFill>
            <a:prstDash val="solid"/>
          </a:ln>
        </p:spPr>
      </p:sp>
      <p:sp>
        <p:nvSpPr>
          <p:cNvPr id="9" name="Shape 6"/>
          <p:cNvSpPr/>
          <p:nvPr/>
        </p:nvSpPr>
        <p:spPr>
          <a:xfrm>
            <a:off x="7442716" y="2907744"/>
            <a:ext cx="6327100" cy="628293"/>
          </a:xfrm>
          <a:prstGeom prst="roundRect">
            <a:avLst>
              <a:gd name="adj" fmla="val 635"/>
            </a:avLst>
          </a:prstGeom>
          <a:solidFill>
            <a:srgbClr val="2F2B5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9163" y="3064788"/>
            <a:ext cx="314087" cy="314087"/>
          </a:xfrm>
          <a:prstGeom prst="rect">
            <a:avLst/>
          </a:prstGeom>
        </p:spPr>
      </p:pic>
      <p:sp>
        <p:nvSpPr>
          <p:cNvPr id="11" name="Text 7"/>
          <p:cNvSpPr/>
          <p:nvPr/>
        </p:nvSpPr>
        <p:spPr>
          <a:xfrm>
            <a:off x="7652147" y="3745468"/>
            <a:ext cx="2464118" cy="308015"/>
          </a:xfrm>
          <a:prstGeom prst="rect">
            <a:avLst/>
          </a:prstGeom>
          <a:noFill/>
          <a:ln/>
        </p:spPr>
        <p:txBody>
          <a:bodyPr wrap="none" lIns="0" tIns="0" rIns="0" bIns="0" rtlCol="0" anchor="t"/>
          <a:lstStyle/>
          <a:p>
            <a:pPr algn="l" indent="0" marL="0">
              <a:lnSpc>
                <a:spcPts val="2400"/>
              </a:lnSpc>
              <a:buNone/>
            </a:pPr>
            <a:r>
              <a:rPr lang="en-US" sz="1900" dirty="0">
                <a:solidFill>
                  <a:srgbClr val="D9E1FF"/>
                </a:solidFill>
                <a:latin typeface="Kanit" pitchFamily="34" charset="0"/>
                <a:ea typeface="Kanit" pitchFamily="34" charset="-122"/>
                <a:cs typeface="Kanit" pitchFamily="34" charset="-120"/>
              </a:rPr>
              <a:t>Admin Module</a:t>
            </a:r>
            <a:endParaRPr lang="en-US" sz="1900" dirty="0"/>
          </a:p>
        </p:txBody>
      </p:sp>
      <p:sp>
        <p:nvSpPr>
          <p:cNvPr id="12" name="Text 8"/>
          <p:cNvSpPr/>
          <p:nvPr/>
        </p:nvSpPr>
        <p:spPr>
          <a:xfrm>
            <a:off x="7652147" y="4179094"/>
            <a:ext cx="5908238" cy="196810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Manage user accounts and permissions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View all reports in a centralized dashboard</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Assign reports to appropriate departments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Update report status and add notes</a:t>
            </a:r>
            <a:endParaRPr lang="en-US" sz="1600" dirty="0"/>
          </a:p>
          <a:p>
            <a:pPr algn="l" marL="342900" indent="-342900">
              <a:lnSpc>
                <a:spcPts val="2600"/>
              </a:lnSpc>
              <a:buSzPct val="100000"/>
              <a:buChar char="•"/>
            </a:pPr>
            <a:r>
              <a:rPr lang="en-US" sz="1600" dirty="0">
                <a:solidFill>
                  <a:srgbClr val="D9E1FF"/>
                </a:solidFill>
                <a:latin typeface="Martel Sans Light" pitchFamily="34" charset="0"/>
                <a:ea typeface="Martel Sans Light" pitchFamily="34" charset="-122"/>
                <a:cs typeface="Martel Sans Light" pitchFamily="34" charset="-120"/>
              </a:rPr>
              <a:t>Generate reports and analytics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092881" y="446127"/>
            <a:ext cx="5532953" cy="413861"/>
          </a:xfrm>
          <a:prstGeom prst="rect">
            <a:avLst/>
          </a:prstGeom>
          <a:noFill/>
          <a:ln/>
        </p:spPr>
        <p:txBody>
          <a:bodyPr wrap="none" lIns="0" tIns="0" rIns="0" bIns="0" rtlCol="0" anchor="t"/>
          <a:lstStyle/>
          <a:p>
            <a:pPr algn="l" indent="0" marL="0">
              <a:lnSpc>
                <a:spcPts val="3250"/>
              </a:lnSpc>
              <a:buNone/>
            </a:pPr>
            <a:r>
              <a:rPr lang="en-US" sz="2600" dirty="0">
                <a:solidFill>
                  <a:srgbClr val="FFFFFF"/>
                </a:solidFill>
                <a:latin typeface="Kanit" pitchFamily="34" charset="0"/>
                <a:ea typeface="Kanit" pitchFamily="34" charset="-122"/>
                <a:cs typeface="Kanit" pitchFamily="34" charset="-120"/>
              </a:rPr>
              <a:t>How It Works: The Complete Workflow</a:t>
            </a:r>
            <a:endParaRPr lang="en-US" sz="2600" dirty="0"/>
          </a:p>
        </p:txBody>
      </p:sp>
      <p:pic>
        <p:nvPicPr>
          <p:cNvPr id="3" name="Image 0" descr="preencoded.png">    </p:cNvPr>
          <p:cNvPicPr>
            <a:picLocks noChangeAspect="1"/>
          </p:cNvPicPr>
          <p:nvPr/>
        </p:nvPicPr>
        <p:blipFill>
          <a:blip r:embed="rId1"/>
          <a:stretch>
            <a:fillRect/>
          </a:stretch>
        </p:blipFill>
        <p:spPr>
          <a:xfrm>
            <a:off x="2260163" y="1091208"/>
            <a:ext cx="10110073" cy="3793688"/>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94207" y="2057528"/>
            <a:ext cx="522216" cy="522216"/>
          </a:xfrm>
          <a:prstGeom prst="rect">
            <a:avLst/>
          </a:prstGeom>
        </p:spPr>
      </p:pic>
      <p:sp>
        <p:nvSpPr>
          <p:cNvPr id="5" name="Text 1"/>
          <p:cNvSpPr/>
          <p:nvPr/>
        </p:nvSpPr>
        <p:spPr>
          <a:xfrm>
            <a:off x="10428945" y="3930445"/>
            <a:ext cx="1524871" cy="276285"/>
          </a:xfrm>
          <a:prstGeom prst="rect">
            <a:avLst/>
          </a:prstGeom>
          <a:noFill/>
          <a:ln/>
        </p:spPr>
        <p:txBody>
          <a:bodyPr wrap="none" lIns="0" tIns="0" rIns="0" bIns="0" rtlCol="0" anchor="t"/>
          <a:lstStyle/>
          <a:p>
            <a:pPr algn="ctr" indent="0" marL="0">
              <a:lnSpc>
                <a:spcPts val="2150"/>
              </a:lnSpc>
              <a:buNone/>
            </a:pPr>
            <a:r>
              <a:rPr lang="en-US" sz="1700" dirty="0">
                <a:solidFill>
                  <a:srgbClr val="D9E1FF"/>
                </a:solidFill>
                <a:latin typeface="Kanit" pitchFamily="34" charset="0"/>
                <a:ea typeface="Kanit" pitchFamily="34" charset="-122"/>
                <a:cs typeface="Kanit" pitchFamily="34" charset="-120"/>
              </a:rPr>
              <a:t>Update</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82406" y="2058507"/>
            <a:ext cx="522216" cy="522216"/>
          </a:xfrm>
          <a:prstGeom prst="rect">
            <a:avLst/>
          </a:prstGeom>
        </p:spPr>
      </p:pic>
      <p:sp>
        <p:nvSpPr>
          <p:cNvPr id="7" name="Text 2"/>
          <p:cNvSpPr/>
          <p:nvPr/>
        </p:nvSpPr>
        <p:spPr>
          <a:xfrm>
            <a:off x="8507190" y="3930445"/>
            <a:ext cx="1524872" cy="276285"/>
          </a:xfrm>
          <a:prstGeom prst="rect">
            <a:avLst/>
          </a:prstGeom>
          <a:noFill/>
          <a:ln/>
        </p:spPr>
        <p:txBody>
          <a:bodyPr wrap="none" lIns="0" tIns="0" rIns="0" bIns="0" rtlCol="0" anchor="t"/>
          <a:lstStyle/>
          <a:p>
            <a:pPr algn="ctr" indent="0" marL="0">
              <a:lnSpc>
                <a:spcPts val="2150"/>
              </a:lnSpc>
              <a:buNone/>
            </a:pPr>
            <a:r>
              <a:rPr lang="en-US" sz="1700" dirty="0">
                <a:solidFill>
                  <a:srgbClr val="D9E1FF"/>
                </a:solidFill>
                <a:latin typeface="Kanit" pitchFamily="34" charset="0"/>
                <a:ea typeface="Kanit" pitchFamily="34" charset="-122"/>
                <a:cs typeface="Kanit" pitchFamily="34" charset="-120"/>
              </a:rPr>
              <a:t>Process</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71095" y="2058507"/>
            <a:ext cx="522216" cy="522216"/>
          </a:xfrm>
          <a:prstGeom prst="rect">
            <a:avLst/>
          </a:prstGeom>
        </p:spPr>
      </p:pic>
      <p:sp>
        <p:nvSpPr>
          <p:cNvPr id="9" name="Text 3"/>
          <p:cNvSpPr/>
          <p:nvPr/>
        </p:nvSpPr>
        <p:spPr>
          <a:xfrm>
            <a:off x="6595879" y="3930445"/>
            <a:ext cx="1524870" cy="276285"/>
          </a:xfrm>
          <a:prstGeom prst="rect">
            <a:avLst/>
          </a:prstGeom>
          <a:noFill/>
          <a:ln/>
        </p:spPr>
        <p:txBody>
          <a:bodyPr wrap="none" lIns="0" tIns="0" rIns="0" bIns="0" rtlCol="0" anchor="t"/>
          <a:lstStyle/>
          <a:p>
            <a:pPr algn="ctr" indent="0" marL="0">
              <a:lnSpc>
                <a:spcPts val="2150"/>
              </a:lnSpc>
              <a:buNone/>
            </a:pPr>
            <a:r>
              <a:rPr lang="en-US" sz="1700" dirty="0">
                <a:solidFill>
                  <a:srgbClr val="D9E1FF"/>
                </a:solidFill>
                <a:latin typeface="Kanit" pitchFamily="34" charset="0"/>
                <a:ea typeface="Kanit" pitchFamily="34" charset="-122"/>
                <a:cs typeface="Kanit" pitchFamily="34" charset="-120"/>
              </a:rPr>
              <a:t>Review</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59785" y="2058507"/>
            <a:ext cx="522216" cy="522216"/>
          </a:xfrm>
          <a:prstGeom prst="rect">
            <a:avLst/>
          </a:prstGeom>
        </p:spPr>
      </p:pic>
      <p:sp>
        <p:nvSpPr>
          <p:cNvPr id="11" name="Text 4"/>
          <p:cNvSpPr/>
          <p:nvPr/>
        </p:nvSpPr>
        <p:spPr>
          <a:xfrm>
            <a:off x="4684568" y="3930445"/>
            <a:ext cx="1524871" cy="276285"/>
          </a:xfrm>
          <a:prstGeom prst="rect">
            <a:avLst/>
          </a:prstGeom>
          <a:noFill/>
          <a:ln/>
        </p:spPr>
        <p:txBody>
          <a:bodyPr wrap="none" lIns="0" tIns="0" rIns="0" bIns="0" rtlCol="0" anchor="t"/>
          <a:lstStyle/>
          <a:p>
            <a:pPr algn="ctr" indent="0" marL="0">
              <a:lnSpc>
                <a:spcPts val="2150"/>
              </a:lnSpc>
              <a:buNone/>
            </a:pPr>
            <a:r>
              <a:rPr lang="en-US" sz="1700" dirty="0">
                <a:solidFill>
                  <a:srgbClr val="D9E1FF"/>
                </a:solidFill>
                <a:latin typeface="Kanit" pitchFamily="34" charset="0"/>
                <a:ea typeface="Kanit" pitchFamily="34" charset="-122"/>
                <a:cs typeface="Kanit" pitchFamily="34" charset="-120"/>
              </a:rPr>
              <a:t>Validate</a:t>
            </a:r>
            <a:endParaRPr lang="en-US" sz="170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38029" y="2058507"/>
            <a:ext cx="522216" cy="522216"/>
          </a:xfrm>
          <a:prstGeom prst="rect">
            <a:avLst/>
          </a:prstGeom>
        </p:spPr>
      </p:pic>
      <p:sp>
        <p:nvSpPr>
          <p:cNvPr id="13" name="Text 5"/>
          <p:cNvSpPr/>
          <p:nvPr/>
        </p:nvSpPr>
        <p:spPr>
          <a:xfrm>
            <a:off x="2731480" y="3930445"/>
            <a:ext cx="1524871" cy="276285"/>
          </a:xfrm>
          <a:prstGeom prst="rect">
            <a:avLst/>
          </a:prstGeom>
          <a:noFill/>
          <a:ln/>
        </p:spPr>
        <p:txBody>
          <a:bodyPr wrap="none" lIns="0" tIns="0" rIns="0" bIns="0" rtlCol="0" anchor="t"/>
          <a:lstStyle/>
          <a:p>
            <a:pPr algn="ctr" indent="0" marL="0">
              <a:lnSpc>
                <a:spcPts val="2150"/>
              </a:lnSpc>
              <a:buNone/>
            </a:pPr>
            <a:r>
              <a:rPr lang="en-US" sz="1700" dirty="0">
                <a:solidFill>
                  <a:srgbClr val="D9E1FF"/>
                </a:solidFill>
                <a:latin typeface="Kanit" pitchFamily="34" charset="0"/>
                <a:ea typeface="Kanit" pitchFamily="34" charset="-122"/>
                <a:cs typeface="Kanit" pitchFamily="34" charset="-120"/>
              </a:rPr>
              <a:t>Submit</a:t>
            </a:r>
            <a:endParaRPr lang="en-US" sz="1700" dirty="0"/>
          </a:p>
        </p:txBody>
      </p:sp>
      <p:sp>
        <p:nvSpPr>
          <p:cNvPr id="14" name="Text 6"/>
          <p:cNvSpPr/>
          <p:nvPr/>
        </p:nvSpPr>
        <p:spPr>
          <a:xfrm>
            <a:off x="2092881" y="4949071"/>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01</a:t>
            </a:r>
            <a:endParaRPr lang="en-US" sz="1100" dirty="0"/>
          </a:p>
        </p:txBody>
      </p:sp>
      <p:pic>
        <p:nvPicPr>
          <p:cNvPr id="15" name="Image 6" descr="preencoded.png">    </p:cNvPr>
          <p:cNvPicPr>
            <a:picLocks noChangeAspect="1"/>
          </p:cNvPicPr>
          <p:nvPr/>
        </p:nvPicPr>
        <p:blipFill>
          <a:blip r:embed="rId12"/>
          <a:stretch>
            <a:fillRect/>
          </a:stretch>
        </p:blipFill>
        <p:spPr>
          <a:xfrm>
            <a:off x="2092881" y="5172908"/>
            <a:ext cx="5175052" cy="15240"/>
          </a:xfrm>
          <a:prstGeom prst="rect">
            <a:avLst/>
          </a:prstGeom>
        </p:spPr>
      </p:pic>
      <p:sp>
        <p:nvSpPr>
          <p:cNvPr id="16" name="Text 7"/>
          <p:cNvSpPr/>
          <p:nvPr/>
        </p:nvSpPr>
        <p:spPr>
          <a:xfrm>
            <a:off x="2092881" y="5273635"/>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Report Submission</a:t>
            </a:r>
            <a:endParaRPr lang="en-US" sz="1300" dirty="0"/>
          </a:p>
        </p:txBody>
      </p:sp>
      <p:sp>
        <p:nvSpPr>
          <p:cNvPr id="17" name="Text 8"/>
          <p:cNvSpPr/>
          <p:nvPr/>
        </p:nvSpPr>
        <p:spPr>
          <a:xfrm>
            <a:off x="2092881" y="5537240"/>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Citizen submits issue with details, photos, and location</a:t>
            </a:r>
            <a:endParaRPr lang="en-US" sz="1100" dirty="0"/>
          </a:p>
        </p:txBody>
      </p:sp>
      <p:sp>
        <p:nvSpPr>
          <p:cNvPr id="18" name="Text 9"/>
          <p:cNvSpPr/>
          <p:nvPr/>
        </p:nvSpPr>
        <p:spPr>
          <a:xfrm>
            <a:off x="7362468" y="4949071"/>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02</a:t>
            </a:r>
            <a:endParaRPr lang="en-US" sz="1100" dirty="0"/>
          </a:p>
        </p:txBody>
      </p:sp>
      <p:pic>
        <p:nvPicPr>
          <p:cNvPr id="19" name="Image 7" descr="preencoded.png">    </p:cNvPr>
          <p:cNvPicPr>
            <a:picLocks noChangeAspect="1"/>
          </p:cNvPicPr>
          <p:nvPr/>
        </p:nvPicPr>
        <p:blipFill>
          <a:blip r:embed="rId13"/>
          <a:stretch>
            <a:fillRect/>
          </a:stretch>
        </p:blipFill>
        <p:spPr>
          <a:xfrm>
            <a:off x="7362468" y="5172908"/>
            <a:ext cx="5175052" cy="15240"/>
          </a:xfrm>
          <a:prstGeom prst="rect">
            <a:avLst/>
          </a:prstGeom>
        </p:spPr>
      </p:pic>
      <p:sp>
        <p:nvSpPr>
          <p:cNvPr id="20" name="Text 10"/>
          <p:cNvSpPr/>
          <p:nvPr/>
        </p:nvSpPr>
        <p:spPr>
          <a:xfrm>
            <a:off x="7362468" y="5273635"/>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Data Validation</a:t>
            </a:r>
            <a:endParaRPr lang="en-US" sz="1300" dirty="0"/>
          </a:p>
        </p:txBody>
      </p:sp>
      <p:sp>
        <p:nvSpPr>
          <p:cNvPr id="21" name="Text 11"/>
          <p:cNvSpPr/>
          <p:nvPr/>
        </p:nvSpPr>
        <p:spPr>
          <a:xfrm>
            <a:off x="7362468" y="5537240"/>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System checks information and stores in database</a:t>
            </a:r>
            <a:endParaRPr lang="en-US" sz="1100" dirty="0"/>
          </a:p>
        </p:txBody>
      </p:sp>
      <p:sp>
        <p:nvSpPr>
          <p:cNvPr id="22" name="Text 12"/>
          <p:cNvSpPr/>
          <p:nvPr/>
        </p:nvSpPr>
        <p:spPr>
          <a:xfrm>
            <a:off x="2092881" y="5925383"/>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03</a:t>
            </a:r>
            <a:endParaRPr lang="en-US" sz="1100" dirty="0"/>
          </a:p>
        </p:txBody>
      </p:sp>
      <p:pic>
        <p:nvPicPr>
          <p:cNvPr id="23" name="Image 8" descr="preencoded.png">    </p:cNvPr>
          <p:cNvPicPr>
            <a:picLocks noChangeAspect="1"/>
          </p:cNvPicPr>
          <p:nvPr/>
        </p:nvPicPr>
        <p:blipFill>
          <a:blip r:embed="rId14"/>
          <a:stretch>
            <a:fillRect/>
          </a:stretch>
        </p:blipFill>
        <p:spPr>
          <a:xfrm>
            <a:off x="2092881" y="6135172"/>
            <a:ext cx="5175052" cy="15240"/>
          </a:xfrm>
          <a:prstGeom prst="rect">
            <a:avLst/>
          </a:prstGeom>
        </p:spPr>
      </p:pic>
      <p:sp>
        <p:nvSpPr>
          <p:cNvPr id="24" name="Text 13"/>
          <p:cNvSpPr/>
          <p:nvPr/>
        </p:nvSpPr>
        <p:spPr>
          <a:xfrm>
            <a:off x="2092881" y="6249948"/>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Admin Review</a:t>
            </a:r>
            <a:endParaRPr lang="en-US" sz="1300" dirty="0"/>
          </a:p>
        </p:txBody>
      </p:sp>
      <p:sp>
        <p:nvSpPr>
          <p:cNvPr id="25" name="Text 14"/>
          <p:cNvSpPr/>
          <p:nvPr/>
        </p:nvSpPr>
        <p:spPr>
          <a:xfrm>
            <a:off x="2092881" y="6513552"/>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Moderator reviews and assigns to appropriate department</a:t>
            </a:r>
            <a:endParaRPr lang="en-US" sz="1100" dirty="0"/>
          </a:p>
        </p:txBody>
      </p:sp>
      <p:sp>
        <p:nvSpPr>
          <p:cNvPr id="26" name="Text 15"/>
          <p:cNvSpPr/>
          <p:nvPr/>
        </p:nvSpPr>
        <p:spPr>
          <a:xfrm>
            <a:off x="7362468" y="5925383"/>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04</a:t>
            </a:r>
            <a:endParaRPr lang="en-US" sz="1100" dirty="0"/>
          </a:p>
        </p:txBody>
      </p:sp>
      <p:pic>
        <p:nvPicPr>
          <p:cNvPr id="27" name="Image 9" descr="preencoded.png">    </p:cNvPr>
          <p:cNvPicPr>
            <a:picLocks noChangeAspect="1"/>
          </p:cNvPicPr>
          <p:nvPr/>
        </p:nvPicPr>
        <p:blipFill>
          <a:blip r:embed="rId15"/>
          <a:stretch>
            <a:fillRect/>
          </a:stretch>
        </p:blipFill>
        <p:spPr>
          <a:xfrm>
            <a:off x="7362468" y="6135172"/>
            <a:ext cx="5175052" cy="15240"/>
          </a:xfrm>
          <a:prstGeom prst="rect">
            <a:avLst/>
          </a:prstGeom>
        </p:spPr>
      </p:pic>
      <p:sp>
        <p:nvSpPr>
          <p:cNvPr id="28" name="Text 16"/>
          <p:cNvSpPr/>
          <p:nvPr/>
        </p:nvSpPr>
        <p:spPr>
          <a:xfrm>
            <a:off x="7362468" y="6249948"/>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Department Action</a:t>
            </a:r>
            <a:endParaRPr lang="en-US" sz="1300" dirty="0"/>
          </a:p>
        </p:txBody>
      </p:sp>
      <p:sp>
        <p:nvSpPr>
          <p:cNvPr id="29" name="Text 17"/>
          <p:cNvSpPr/>
          <p:nvPr/>
        </p:nvSpPr>
        <p:spPr>
          <a:xfrm>
            <a:off x="7362468" y="6513552"/>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Assigned team receives notification and begins resolution</a:t>
            </a:r>
            <a:endParaRPr lang="en-US" sz="1100" dirty="0"/>
          </a:p>
        </p:txBody>
      </p:sp>
      <p:sp>
        <p:nvSpPr>
          <p:cNvPr id="30" name="Text 18"/>
          <p:cNvSpPr/>
          <p:nvPr/>
        </p:nvSpPr>
        <p:spPr>
          <a:xfrm>
            <a:off x="2092881" y="6901696"/>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05</a:t>
            </a:r>
            <a:endParaRPr lang="en-US" sz="1100" dirty="0"/>
          </a:p>
        </p:txBody>
      </p:sp>
      <p:pic>
        <p:nvPicPr>
          <p:cNvPr id="31" name="Image 10" descr="preencoded.png">    </p:cNvPr>
          <p:cNvPicPr>
            <a:picLocks noChangeAspect="1"/>
          </p:cNvPicPr>
          <p:nvPr/>
        </p:nvPicPr>
        <p:blipFill>
          <a:blip r:embed="rId16"/>
          <a:stretch>
            <a:fillRect/>
          </a:stretch>
        </p:blipFill>
        <p:spPr>
          <a:xfrm>
            <a:off x="2092881" y="7097435"/>
            <a:ext cx="5175052" cy="15240"/>
          </a:xfrm>
          <a:prstGeom prst="rect">
            <a:avLst/>
          </a:prstGeom>
        </p:spPr>
      </p:pic>
      <p:sp>
        <p:nvSpPr>
          <p:cNvPr id="32" name="Text 19"/>
          <p:cNvSpPr/>
          <p:nvPr/>
        </p:nvSpPr>
        <p:spPr>
          <a:xfrm>
            <a:off x="2092881" y="7226260"/>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Status Updates</a:t>
            </a:r>
            <a:endParaRPr lang="en-US" sz="1300" dirty="0"/>
          </a:p>
        </p:txBody>
      </p:sp>
      <p:sp>
        <p:nvSpPr>
          <p:cNvPr id="33" name="Text 20"/>
          <p:cNvSpPr/>
          <p:nvPr/>
        </p:nvSpPr>
        <p:spPr>
          <a:xfrm>
            <a:off x="2092881" y="7489865"/>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Progress is documented and tracked in the system</a:t>
            </a:r>
            <a:endParaRPr lang="en-US" sz="1100" dirty="0"/>
          </a:p>
        </p:txBody>
      </p:sp>
      <p:sp>
        <p:nvSpPr>
          <p:cNvPr id="34" name="Text 21"/>
          <p:cNvSpPr/>
          <p:nvPr/>
        </p:nvSpPr>
        <p:spPr>
          <a:xfrm>
            <a:off x="7362468" y="6901696"/>
            <a:ext cx="281345" cy="175855"/>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Kanit Light" pitchFamily="34" charset="0"/>
                <a:ea typeface="Kanit Light" pitchFamily="34" charset="-122"/>
                <a:cs typeface="Kanit Light" pitchFamily="34" charset="-120"/>
              </a:rPr>
              <a:t>06</a:t>
            </a:r>
            <a:endParaRPr lang="en-US" sz="1100" dirty="0"/>
          </a:p>
        </p:txBody>
      </p:sp>
      <p:pic>
        <p:nvPicPr>
          <p:cNvPr id="35" name="Image 11" descr="preencoded.png">    </p:cNvPr>
          <p:cNvPicPr>
            <a:picLocks noChangeAspect="1"/>
          </p:cNvPicPr>
          <p:nvPr/>
        </p:nvPicPr>
        <p:blipFill>
          <a:blip r:embed="rId17"/>
          <a:stretch>
            <a:fillRect/>
          </a:stretch>
        </p:blipFill>
        <p:spPr>
          <a:xfrm>
            <a:off x="7362468" y="7097435"/>
            <a:ext cx="5175052" cy="15240"/>
          </a:xfrm>
          <a:prstGeom prst="rect">
            <a:avLst/>
          </a:prstGeom>
        </p:spPr>
      </p:pic>
      <p:sp>
        <p:nvSpPr>
          <p:cNvPr id="36" name="Text 22"/>
          <p:cNvSpPr/>
          <p:nvPr/>
        </p:nvSpPr>
        <p:spPr>
          <a:xfrm>
            <a:off x="7362468" y="7226260"/>
            <a:ext cx="1655564" cy="206931"/>
          </a:xfrm>
          <a:prstGeom prst="rect">
            <a:avLst/>
          </a:prstGeom>
          <a:noFill/>
          <a:ln/>
        </p:spPr>
        <p:txBody>
          <a:bodyPr wrap="none" lIns="0" tIns="0" rIns="0" bIns="0" rtlCol="0" anchor="t"/>
          <a:lstStyle/>
          <a:p>
            <a:pPr algn="l" indent="0" marL="0">
              <a:lnSpc>
                <a:spcPts val="1600"/>
              </a:lnSpc>
              <a:buNone/>
            </a:pPr>
            <a:r>
              <a:rPr lang="en-US" sz="1300" dirty="0">
                <a:solidFill>
                  <a:srgbClr val="D9E1FF"/>
                </a:solidFill>
                <a:latin typeface="Kanit" pitchFamily="34" charset="0"/>
                <a:ea typeface="Kanit" pitchFamily="34" charset="-122"/>
                <a:cs typeface="Kanit" pitchFamily="34" charset="-120"/>
              </a:rPr>
              <a:t>Completion</a:t>
            </a:r>
            <a:endParaRPr lang="en-US" sz="1300" dirty="0"/>
          </a:p>
        </p:txBody>
      </p:sp>
      <p:sp>
        <p:nvSpPr>
          <p:cNvPr id="37" name="Text 23"/>
          <p:cNvSpPr/>
          <p:nvPr/>
        </p:nvSpPr>
        <p:spPr>
          <a:xfrm>
            <a:off x="7362468" y="7489865"/>
            <a:ext cx="5175052" cy="188119"/>
          </a:xfrm>
          <a:prstGeom prst="rect">
            <a:avLst/>
          </a:prstGeom>
          <a:noFill/>
          <a:ln/>
        </p:spPr>
        <p:txBody>
          <a:bodyPr wrap="none" lIns="0" tIns="0" rIns="0" bIns="0" rtlCol="0" anchor="t"/>
          <a:lstStyle/>
          <a:p>
            <a:pPr algn="l" indent="0" marL="0">
              <a:lnSpc>
                <a:spcPts val="1450"/>
              </a:lnSpc>
              <a:buNone/>
            </a:pPr>
            <a:r>
              <a:rPr lang="en-US" sz="1100" dirty="0">
                <a:solidFill>
                  <a:srgbClr val="D9E1FF"/>
                </a:solidFill>
                <a:latin typeface="Martel Sans Light" pitchFamily="34" charset="0"/>
                <a:ea typeface="Martel Sans Light" pitchFamily="34" charset="-122"/>
                <a:cs typeface="Martel Sans Light" pitchFamily="34" charset="-120"/>
              </a:rPr>
              <a:t>Citizen receives notification that issue is resolved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2358" y="608648"/>
            <a:ext cx="7620953" cy="567928"/>
          </a:xfrm>
          <a:prstGeom prst="rect">
            <a:avLst/>
          </a:prstGeom>
          <a:noFill/>
          <a:ln/>
        </p:spPr>
        <p:txBody>
          <a:bodyPr wrap="none" lIns="0" tIns="0" rIns="0" bIns="0" rtlCol="0" anchor="t"/>
          <a:lstStyle/>
          <a:p>
            <a:pPr algn="l" indent="0" marL="0">
              <a:lnSpc>
                <a:spcPts val="4450"/>
              </a:lnSpc>
              <a:buNone/>
            </a:pPr>
            <a:r>
              <a:rPr lang="en-US" sz="3550" dirty="0">
                <a:solidFill>
                  <a:srgbClr val="FFFFFF"/>
                </a:solidFill>
                <a:latin typeface="Kanit" pitchFamily="34" charset="0"/>
                <a:ea typeface="Kanit" pitchFamily="34" charset="-122"/>
                <a:cs typeface="Kanit" pitchFamily="34" charset="-120"/>
              </a:rPr>
              <a:t>Benefits and Real-World Applications</a:t>
            </a:r>
            <a:endParaRPr lang="en-US" sz="3550" dirty="0"/>
          </a:p>
        </p:txBody>
      </p:sp>
      <p:sp>
        <p:nvSpPr>
          <p:cNvPr id="3" name="Shape 1"/>
          <p:cNvSpPr/>
          <p:nvPr/>
        </p:nvSpPr>
        <p:spPr>
          <a:xfrm>
            <a:off x="772358" y="1532573"/>
            <a:ext cx="6453783" cy="1830824"/>
          </a:xfrm>
          <a:prstGeom prst="roundRect">
            <a:avLst>
              <a:gd name="adj" fmla="val 1582"/>
            </a:avLst>
          </a:prstGeom>
          <a:solidFill>
            <a:srgbClr val="2F2B54"/>
          </a:solidFill>
          <a:ln/>
        </p:spPr>
      </p:sp>
      <p:pic>
        <p:nvPicPr>
          <p:cNvPr id="4" name="Image 0" descr="preencoded.png">    </p:cNvPr>
          <p:cNvPicPr>
            <a:picLocks noChangeAspect="1"/>
          </p:cNvPicPr>
          <p:nvPr/>
        </p:nvPicPr>
        <p:blipFill>
          <a:blip r:embed="rId1"/>
          <a:stretch>
            <a:fillRect/>
          </a:stretch>
        </p:blipFill>
        <p:spPr>
          <a:xfrm>
            <a:off x="965359" y="1725573"/>
            <a:ext cx="579239" cy="579239"/>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4664" y="1884759"/>
            <a:ext cx="260628" cy="260628"/>
          </a:xfrm>
          <a:prstGeom prst="rect">
            <a:avLst/>
          </a:prstGeom>
        </p:spPr>
      </p:pic>
      <p:sp>
        <p:nvSpPr>
          <p:cNvPr id="6" name="Text 2"/>
          <p:cNvSpPr/>
          <p:nvPr/>
        </p:nvSpPr>
        <p:spPr>
          <a:xfrm>
            <a:off x="965359" y="2482810"/>
            <a:ext cx="2271593" cy="283964"/>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Efficiency</a:t>
            </a:r>
            <a:endParaRPr lang="en-US" sz="1750" dirty="0"/>
          </a:p>
        </p:txBody>
      </p:sp>
      <p:sp>
        <p:nvSpPr>
          <p:cNvPr id="7" name="Text 3"/>
          <p:cNvSpPr/>
          <p:nvPr/>
        </p:nvSpPr>
        <p:spPr>
          <a:xfrm>
            <a:off x="965359" y="2873573"/>
            <a:ext cx="6067782" cy="296823"/>
          </a:xfrm>
          <a:prstGeom prst="rect">
            <a:avLst/>
          </a:prstGeom>
          <a:noFill/>
          <a:ln/>
        </p:spPr>
        <p:txBody>
          <a:bodyPr wrap="none" lIns="0" tIns="0" rIns="0" bIns="0" rtlCol="0" anchor="t"/>
          <a:lstStyle/>
          <a:p>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Reduces processing time from days to hours</a:t>
            </a:r>
            <a:endParaRPr lang="en-US" sz="1500" dirty="0"/>
          </a:p>
        </p:txBody>
      </p:sp>
      <p:sp>
        <p:nvSpPr>
          <p:cNvPr id="8" name="Shape 4"/>
          <p:cNvSpPr/>
          <p:nvPr/>
        </p:nvSpPr>
        <p:spPr>
          <a:xfrm>
            <a:off x="7404140" y="1532573"/>
            <a:ext cx="6453902" cy="1830824"/>
          </a:xfrm>
          <a:prstGeom prst="roundRect">
            <a:avLst>
              <a:gd name="adj" fmla="val 1582"/>
            </a:avLst>
          </a:prstGeom>
          <a:solidFill>
            <a:srgbClr val="2F2B54"/>
          </a:solidFill>
          <a:ln/>
        </p:spPr>
      </p:sp>
      <p:pic>
        <p:nvPicPr>
          <p:cNvPr id="9" name="Image 2" descr="preencoded.png">    </p:cNvPr>
          <p:cNvPicPr>
            <a:picLocks noChangeAspect="1"/>
          </p:cNvPicPr>
          <p:nvPr/>
        </p:nvPicPr>
        <p:blipFill>
          <a:blip r:embed="rId4"/>
          <a:stretch>
            <a:fillRect/>
          </a:stretch>
        </p:blipFill>
        <p:spPr>
          <a:xfrm>
            <a:off x="7597140" y="1725573"/>
            <a:ext cx="579239" cy="579239"/>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56446" y="1884759"/>
            <a:ext cx="260628" cy="260628"/>
          </a:xfrm>
          <a:prstGeom prst="rect">
            <a:avLst/>
          </a:prstGeom>
        </p:spPr>
      </p:pic>
      <p:sp>
        <p:nvSpPr>
          <p:cNvPr id="11" name="Text 5"/>
          <p:cNvSpPr/>
          <p:nvPr/>
        </p:nvSpPr>
        <p:spPr>
          <a:xfrm>
            <a:off x="7597140" y="2482810"/>
            <a:ext cx="2271593" cy="283964"/>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Transparency</a:t>
            </a:r>
            <a:endParaRPr lang="en-US" sz="1750" dirty="0"/>
          </a:p>
        </p:txBody>
      </p:sp>
      <p:sp>
        <p:nvSpPr>
          <p:cNvPr id="12" name="Text 6"/>
          <p:cNvSpPr/>
          <p:nvPr/>
        </p:nvSpPr>
        <p:spPr>
          <a:xfrm>
            <a:off x="7597140" y="2873573"/>
            <a:ext cx="6067901" cy="296823"/>
          </a:xfrm>
          <a:prstGeom prst="rect">
            <a:avLst/>
          </a:prstGeom>
          <a:noFill/>
          <a:ln/>
        </p:spPr>
        <p:txBody>
          <a:bodyPr wrap="none" lIns="0" tIns="0" rIns="0" bIns="0" rtlCol="0" anchor="t"/>
          <a:lstStyle/>
          <a:p>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Everyone can see report status and progress</a:t>
            </a:r>
            <a:endParaRPr lang="en-US" sz="1500" dirty="0"/>
          </a:p>
        </p:txBody>
      </p:sp>
      <p:sp>
        <p:nvSpPr>
          <p:cNvPr id="13" name="Shape 7"/>
          <p:cNvSpPr/>
          <p:nvPr/>
        </p:nvSpPr>
        <p:spPr>
          <a:xfrm>
            <a:off x="772358" y="3541395"/>
            <a:ext cx="6453783" cy="1830824"/>
          </a:xfrm>
          <a:prstGeom prst="roundRect">
            <a:avLst>
              <a:gd name="adj" fmla="val 1582"/>
            </a:avLst>
          </a:prstGeom>
          <a:solidFill>
            <a:srgbClr val="2F2B54"/>
          </a:solidFill>
          <a:ln/>
        </p:spPr>
      </p:sp>
      <p:pic>
        <p:nvPicPr>
          <p:cNvPr id="14" name="Image 4" descr="preencoded.png">    </p:cNvPr>
          <p:cNvPicPr>
            <a:picLocks noChangeAspect="1"/>
          </p:cNvPicPr>
          <p:nvPr/>
        </p:nvPicPr>
        <p:blipFill>
          <a:blip r:embed="rId7"/>
          <a:stretch>
            <a:fillRect/>
          </a:stretch>
        </p:blipFill>
        <p:spPr>
          <a:xfrm>
            <a:off x="965359" y="3734395"/>
            <a:ext cx="579239" cy="579239"/>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4664" y="3893582"/>
            <a:ext cx="260628" cy="260628"/>
          </a:xfrm>
          <a:prstGeom prst="rect">
            <a:avLst/>
          </a:prstGeom>
        </p:spPr>
      </p:pic>
      <p:sp>
        <p:nvSpPr>
          <p:cNvPr id="16" name="Text 8"/>
          <p:cNvSpPr/>
          <p:nvPr/>
        </p:nvSpPr>
        <p:spPr>
          <a:xfrm>
            <a:off x="965359" y="4491633"/>
            <a:ext cx="2271593" cy="283964"/>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Accountability</a:t>
            </a:r>
            <a:endParaRPr lang="en-US" sz="1750" dirty="0"/>
          </a:p>
        </p:txBody>
      </p:sp>
      <p:sp>
        <p:nvSpPr>
          <p:cNvPr id="17" name="Text 9"/>
          <p:cNvSpPr/>
          <p:nvPr/>
        </p:nvSpPr>
        <p:spPr>
          <a:xfrm>
            <a:off x="965359" y="4882396"/>
            <a:ext cx="6067782" cy="296823"/>
          </a:xfrm>
          <a:prstGeom prst="rect">
            <a:avLst/>
          </a:prstGeom>
          <a:noFill/>
          <a:ln/>
        </p:spPr>
        <p:txBody>
          <a:bodyPr wrap="none" lIns="0" tIns="0" rIns="0" bIns="0" rtlCol="0" anchor="t"/>
          <a:lstStyle/>
          <a:p>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Tracks who is responsible for each action</a:t>
            </a:r>
            <a:endParaRPr lang="en-US" sz="1500" dirty="0"/>
          </a:p>
        </p:txBody>
      </p:sp>
      <p:sp>
        <p:nvSpPr>
          <p:cNvPr id="18" name="Shape 10"/>
          <p:cNvSpPr/>
          <p:nvPr/>
        </p:nvSpPr>
        <p:spPr>
          <a:xfrm>
            <a:off x="7404140" y="3541395"/>
            <a:ext cx="6453902" cy="1830824"/>
          </a:xfrm>
          <a:prstGeom prst="roundRect">
            <a:avLst>
              <a:gd name="adj" fmla="val 1582"/>
            </a:avLst>
          </a:prstGeom>
          <a:solidFill>
            <a:srgbClr val="2F2B54"/>
          </a:solidFill>
          <a:ln/>
        </p:spPr>
      </p:sp>
      <p:pic>
        <p:nvPicPr>
          <p:cNvPr id="19" name="Image 6" descr="preencoded.png">    </p:cNvPr>
          <p:cNvPicPr>
            <a:picLocks noChangeAspect="1"/>
          </p:cNvPicPr>
          <p:nvPr/>
        </p:nvPicPr>
        <p:blipFill>
          <a:blip r:embed="rId10"/>
          <a:stretch>
            <a:fillRect/>
          </a:stretch>
        </p:blipFill>
        <p:spPr>
          <a:xfrm>
            <a:off x="7597140" y="3734395"/>
            <a:ext cx="579239" cy="579239"/>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56446" y="3893582"/>
            <a:ext cx="260628" cy="260628"/>
          </a:xfrm>
          <a:prstGeom prst="rect">
            <a:avLst/>
          </a:prstGeom>
        </p:spPr>
      </p:pic>
      <p:sp>
        <p:nvSpPr>
          <p:cNvPr id="21" name="Text 11"/>
          <p:cNvSpPr/>
          <p:nvPr/>
        </p:nvSpPr>
        <p:spPr>
          <a:xfrm>
            <a:off x="7597140" y="4491633"/>
            <a:ext cx="2511266" cy="283964"/>
          </a:xfrm>
          <a:prstGeom prst="rect">
            <a:avLst/>
          </a:prstGeom>
          <a:noFill/>
          <a:ln/>
        </p:spPr>
        <p:txBody>
          <a:bodyPr wrap="none" lIns="0" tIns="0" rIns="0" bIns="0" rtlCol="0" anchor="t"/>
          <a:lstStyle/>
          <a:p>
            <a:pPr algn="l" indent="0" marL="0">
              <a:lnSpc>
                <a:spcPts val="2200"/>
              </a:lnSpc>
              <a:buNone/>
            </a:pPr>
            <a:r>
              <a:rPr lang="en-US" sz="1750" dirty="0">
                <a:solidFill>
                  <a:srgbClr val="D9E1FF"/>
                </a:solidFill>
                <a:latin typeface="Kanit" pitchFamily="34" charset="0"/>
                <a:ea typeface="Kanit" pitchFamily="34" charset="-122"/>
                <a:cs typeface="Kanit" pitchFamily="34" charset="-120"/>
              </a:rPr>
              <a:t>Community Engagement</a:t>
            </a:r>
            <a:endParaRPr lang="en-US" sz="1750" dirty="0"/>
          </a:p>
        </p:txBody>
      </p:sp>
      <p:sp>
        <p:nvSpPr>
          <p:cNvPr id="22" name="Text 12"/>
          <p:cNvSpPr/>
          <p:nvPr/>
        </p:nvSpPr>
        <p:spPr>
          <a:xfrm>
            <a:off x="7597140" y="4882396"/>
            <a:ext cx="6067901" cy="296823"/>
          </a:xfrm>
          <a:prstGeom prst="rect">
            <a:avLst/>
          </a:prstGeom>
          <a:noFill/>
          <a:ln/>
        </p:spPr>
        <p:txBody>
          <a:bodyPr wrap="none" lIns="0" tIns="0" rIns="0" bIns="0" rtlCol="0" anchor="t"/>
          <a:lstStyle/>
          <a:p>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Encourages civic participation and responsibility</a:t>
            </a:r>
            <a:endParaRPr lang="en-US" sz="1500" dirty="0"/>
          </a:p>
        </p:txBody>
      </p:sp>
      <p:sp>
        <p:nvSpPr>
          <p:cNvPr id="23" name="Text 13"/>
          <p:cNvSpPr/>
          <p:nvPr/>
        </p:nvSpPr>
        <p:spPr>
          <a:xfrm>
            <a:off x="772358" y="5639157"/>
            <a:ext cx="3097173" cy="340757"/>
          </a:xfrm>
          <a:prstGeom prst="rect">
            <a:avLst/>
          </a:prstGeom>
          <a:noFill/>
          <a:ln/>
        </p:spPr>
        <p:txBody>
          <a:bodyPr wrap="none" lIns="0" tIns="0" rIns="0" bIns="0" rtlCol="0" anchor="t"/>
          <a:lstStyle/>
          <a:p>
            <a:pPr algn="l" indent="0" marL="0">
              <a:lnSpc>
                <a:spcPts val="2650"/>
              </a:lnSpc>
              <a:buNone/>
            </a:pPr>
            <a:r>
              <a:rPr lang="en-US" sz="2100" dirty="0">
                <a:solidFill>
                  <a:srgbClr val="FFFFFF"/>
                </a:solidFill>
                <a:latin typeface="Kanit" pitchFamily="34" charset="0"/>
                <a:ea typeface="Kanit" pitchFamily="34" charset="-122"/>
                <a:cs typeface="Kanit" pitchFamily="34" charset="-120"/>
              </a:rPr>
              <a:t>Where This System Works</a:t>
            </a:r>
            <a:endParaRPr lang="en-US" sz="2100" dirty="0"/>
          </a:p>
        </p:txBody>
      </p:sp>
      <p:sp>
        <p:nvSpPr>
          <p:cNvPr id="24" name="Text 14"/>
          <p:cNvSpPr/>
          <p:nvPr/>
        </p:nvSpPr>
        <p:spPr>
          <a:xfrm>
            <a:off x="772358" y="6246852"/>
            <a:ext cx="13085683" cy="1374100"/>
          </a:xfrm>
          <a:prstGeom prst="rect">
            <a:avLst/>
          </a:prstGeom>
          <a:noFill/>
          <a:ln/>
        </p:spPr>
        <p:txBody>
          <a:bodyPr wrap="square" lIns="0" tIns="0" rIns="0" bIns="0" rtlCol="0" anchor="t"/>
          <a:lstStyle/>
          <a:p>
            <a:pPr algn="l" marL="342900" indent="-342900">
              <a:lnSpc>
                <a:spcPts val="2300"/>
              </a:lnSpc>
              <a:buSzPct val="100000"/>
              <a:buChar char="•"/>
            </a:pPr>
            <a:r>
              <a:rPr lang="en-US" sz="1500" b="1" dirty="0">
                <a:solidFill>
                  <a:srgbClr val="D9E1FF"/>
                </a:solidFill>
                <a:latin typeface="Martel Sans Light" pitchFamily="34" charset="0"/>
                <a:ea typeface="Martel Sans Light" pitchFamily="34" charset="-122"/>
                <a:cs typeface="Martel Sans Light" pitchFamily="34" charset="-120"/>
              </a:rPr>
              <a:t>City Governments:</a:t>
            </a:r>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 Reporting potholes, broken streetlights, and infrastructure issues</a:t>
            </a:r>
            <a:endParaRPr lang="en-US" sz="1500" dirty="0"/>
          </a:p>
          <a:p>
            <a:pPr algn="l" marL="342900" indent="-342900">
              <a:lnSpc>
                <a:spcPts val="2300"/>
              </a:lnSpc>
              <a:buSzPct val="100000"/>
              <a:buChar char="•"/>
            </a:pPr>
            <a:r>
              <a:rPr lang="en-US" sz="1500" b="1" dirty="0">
                <a:solidFill>
                  <a:srgbClr val="D9E1FF"/>
                </a:solidFill>
                <a:latin typeface="Martel Sans Light" pitchFamily="34" charset="0"/>
                <a:ea typeface="Martel Sans Light" pitchFamily="34" charset="-122"/>
                <a:cs typeface="Martel Sans Light" pitchFamily="34" charset="-120"/>
              </a:rPr>
              <a:t>College Campuses:</a:t>
            </a:r>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 Reporting maintenance issues, safety concerns, and campus problems</a:t>
            </a:r>
            <a:endParaRPr lang="en-US" sz="1500" dirty="0"/>
          </a:p>
          <a:p>
            <a:pPr algn="l" marL="342900" indent="-342900">
              <a:lnSpc>
                <a:spcPts val="2300"/>
              </a:lnSpc>
              <a:buSzPct val="100000"/>
              <a:buChar char="•"/>
            </a:pPr>
            <a:r>
              <a:rPr lang="en-US" sz="1500" b="1" dirty="0">
                <a:solidFill>
                  <a:srgbClr val="D9E1FF"/>
                </a:solidFill>
                <a:latin typeface="Martel Sans Light" pitchFamily="34" charset="0"/>
                <a:ea typeface="Martel Sans Light" pitchFamily="34" charset="-122"/>
                <a:cs typeface="Martel Sans Light" pitchFamily="34" charset="-120"/>
              </a:rPr>
              <a:t>Housing Communities:</a:t>
            </a:r>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 Managing resident requests and facility maintenance</a:t>
            </a:r>
            <a:endParaRPr lang="en-US" sz="1500" dirty="0"/>
          </a:p>
          <a:p>
            <a:pPr algn="l" marL="342900" indent="-342900">
              <a:lnSpc>
                <a:spcPts val="2300"/>
              </a:lnSpc>
              <a:buSzPct val="100000"/>
              <a:buChar char="•"/>
            </a:pPr>
            <a:r>
              <a:rPr lang="en-US" sz="1500" b="1" dirty="0">
                <a:solidFill>
                  <a:srgbClr val="D9E1FF"/>
                </a:solidFill>
                <a:latin typeface="Martel Sans Light" pitchFamily="34" charset="0"/>
                <a:ea typeface="Martel Sans Light" pitchFamily="34" charset="-122"/>
                <a:cs typeface="Martel Sans Light" pitchFamily="34" charset="-120"/>
              </a:rPr>
              <a:t>Business Parks:</a:t>
            </a:r>
            <a:pPr algn="l" indent="0" marL="0">
              <a:lnSpc>
                <a:spcPts val="2300"/>
              </a:lnSpc>
              <a:buNone/>
            </a:pPr>
            <a:r>
              <a:rPr lang="en-US" sz="1500" dirty="0">
                <a:solidFill>
                  <a:srgbClr val="D9E1FF"/>
                </a:solidFill>
                <a:latin typeface="Martel Sans Light" pitchFamily="34" charset="0"/>
                <a:ea typeface="Martel Sans Light" pitchFamily="34" charset="-122"/>
                <a:cs typeface="Martel Sans Light" pitchFamily="34" charset="-120"/>
              </a:rPr>
              <a:t> Coordinating facilities management across multiple tenants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85543" y="463391"/>
            <a:ext cx="6218396" cy="462082"/>
          </a:xfrm>
          <a:prstGeom prst="rect">
            <a:avLst/>
          </a:prstGeom>
          <a:noFill/>
          <a:ln/>
        </p:spPr>
        <p:txBody>
          <a:bodyPr wrap="none" lIns="0" tIns="0" rIns="0" bIns="0" rtlCol="0" anchor="t"/>
          <a:lstStyle/>
          <a:p>
            <a:pPr algn="l" indent="0" marL="0">
              <a:lnSpc>
                <a:spcPts val="3600"/>
              </a:lnSpc>
              <a:buNone/>
            </a:pPr>
            <a:r>
              <a:rPr lang="en-US" sz="2900" dirty="0">
                <a:solidFill>
                  <a:srgbClr val="FFFFFF"/>
                </a:solidFill>
                <a:latin typeface="Kanit" pitchFamily="34" charset="0"/>
                <a:ea typeface="Kanit" pitchFamily="34" charset="-122"/>
                <a:cs typeface="Kanit" pitchFamily="34" charset="-120"/>
              </a:rPr>
              <a:t>Future Enhancements and Conclusion</a:t>
            </a:r>
            <a:endParaRPr lang="en-US" sz="2900" dirty="0"/>
          </a:p>
        </p:txBody>
      </p:sp>
      <p:sp>
        <p:nvSpPr>
          <p:cNvPr id="3" name="Text 1"/>
          <p:cNvSpPr/>
          <p:nvPr/>
        </p:nvSpPr>
        <p:spPr>
          <a:xfrm>
            <a:off x="1485543" y="972503"/>
            <a:ext cx="2217777" cy="277178"/>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Kanit" pitchFamily="34" charset="0"/>
                <a:ea typeface="Kanit" pitchFamily="34" charset="-122"/>
                <a:cs typeface="Kanit" pitchFamily="34" charset="-120"/>
              </a:rPr>
              <a:t>What's Coming Next</a:t>
            </a:r>
            <a:endParaRPr lang="en-US" sz="1700" dirty="0"/>
          </a:p>
        </p:txBody>
      </p:sp>
      <p:pic>
        <p:nvPicPr>
          <p:cNvPr id="4" name="Image 0" descr="preencoded.png">    </p:cNvPr>
          <p:cNvPicPr>
            <a:picLocks noChangeAspect="1"/>
          </p:cNvPicPr>
          <p:nvPr/>
        </p:nvPicPr>
        <p:blipFill>
          <a:blip r:embed="rId1"/>
          <a:stretch>
            <a:fillRect/>
          </a:stretch>
        </p:blipFill>
        <p:spPr>
          <a:xfrm>
            <a:off x="1485543" y="1509772"/>
            <a:ext cx="78462" cy="78462"/>
          </a:xfrm>
          <a:prstGeom prst="rect">
            <a:avLst/>
          </a:prstGeom>
        </p:spPr>
      </p:pic>
      <p:sp>
        <p:nvSpPr>
          <p:cNvPr id="5" name="Text 2"/>
          <p:cNvSpPr/>
          <p:nvPr/>
        </p:nvSpPr>
        <p:spPr>
          <a:xfrm>
            <a:off x="1681758" y="1426369"/>
            <a:ext cx="2121575" cy="230981"/>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AI-Powered Classification</a:t>
            </a:r>
            <a:endParaRPr lang="en-US" sz="1450" dirty="0"/>
          </a:p>
        </p:txBody>
      </p:sp>
      <p:sp>
        <p:nvSpPr>
          <p:cNvPr id="6" name="Text 3"/>
          <p:cNvSpPr/>
          <p:nvPr/>
        </p:nvSpPr>
        <p:spPr>
          <a:xfrm>
            <a:off x="1681758" y="1727954"/>
            <a:ext cx="11462980"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Automatically categorize reports using machine learning</a:t>
            </a:r>
            <a:endParaRPr lang="en-US" sz="1200" dirty="0"/>
          </a:p>
        </p:txBody>
      </p:sp>
      <p:pic>
        <p:nvPicPr>
          <p:cNvPr id="7" name="Image 1" descr="preencoded.png">    </p:cNvPr>
          <p:cNvPicPr>
            <a:picLocks noChangeAspect="1"/>
          </p:cNvPicPr>
          <p:nvPr/>
        </p:nvPicPr>
        <p:blipFill>
          <a:blip r:embed="rId2"/>
          <a:stretch>
            <a:fillRect/>
          </a:stretch>
        </p:blipFill>
        <p:spPr>
          <a:xfrm>
            <a:off x="1485543" y="2266771"/>
            <a:ext cx="78462" cy="78462"/>
          </a:xfrm>
          <a:prstGeom prst="rect">
            <a:avLst/>
          </a:prstGeom>
        </p:spPr>
      </p:pic>
      <p:sp>
        <p:nvSpPr>
          <p:cNvPr id="8" name="Text 4"/>
          <p:cNvSpPr/>
          <p:nvPr/>
        </p:nvSpPr>
        <p:spPr>
          <a:xfrm>
            <a:off x="1681758" y="2183368"/>
            <a:ext cx="1848088" cy="230981"/>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Mobile App</a:t>
            </a:r>
            <a:endParaRPr lang="en-US" sz="1450" dirty="0"/>
          </a:p>
        </p:txBody>
      </p:sp>
      <p:sp>
        <p:nvSpPr>
          <p:cNvPr id="9" name="Text 5"/>
          <p:cNvSpPr/>
          <p:nvPr/>
        </p:nvSpPr>
        <p:spPr>
          <a:xfrm>
            <a:off x="1681758" y="2484953"/>
            <a:ext cx="11462980"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Native iOS and Android applications for on-the-go reporting</a:t>
            </a:r>
            <a:endParaRPr lang="en-US" sz="1200" dirty="0"/>
          </a:p>
        </p:txBody>
      </p:sp>
      <p:pic>
        <p:nvPicPr>
          <p:cNvPr id="10" name="Image 2" descr="preencoded.png">    </p:cNvPr>
          <p:cNvPicPr>
            <a:picLocks noChangeAspect="1"/>
          </p:cNvPicPr>
          <p:nvPr/>
        </p:nvPicPr>
        <p:blipFill>
          <a:blip r:embed="rId3"/>
          <a:stretch>
            <a:fillRect/>
          </a:stretch>
        </p:blipFill>
        <p:spPr>
          <a:xfrm>
            <a:off x="1485543" y="3023771"/>
            <a:ext cx="78462" cy="78462"/>
          </a:xfrm>
          <a:prstGeom prst="rect">
            <a:avLst/>
          </a:prstGeom>
        </p:spPr>
      </p:pic>
      <p:sp>
        <p:nvSpPr>
          <p:cNvPr id="11" name="Text 6"/>
          <p:cNvSpPr/>
          <p:nvPr/>
        </p:nvSpPr>
        <p:spPr>
          <a:xfrm>
            <a:off x="1681758" y="2940367"/>
            <a:ext cx="1848088" cy="230981"/>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GPS Integration</a:t>
            </a:r>
            <a:endParaRPr lang="en-US" sz="1450" dirty="0"/>
          </a:p>
        </p:txBody>
      </p:sp>
      <p:sp>
        <p:nvSpPr>
          <p:cNvPr id="12" name="Text 7"/>
          <p:cNvSpPr/>
          <p:nvPr/>
        </p:nvSpPr>
        <p:spPr>
          <a:xfrm>
            <a:off x="1681758" y="3241953"/>
            <a:ext cx="11462980"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Automatic location tagging when submitting reports</a:t>
            </a:r>
            <a:endParaRPr lang="en-US" sz="1200" dirty="0"/>
          </a:p>
        </p:txBody>
      </p:sp>
      <p:pic>
        <p:nvPicPr>
          <p:cNvPr id="13" name="Image 3" descr="preencoded.png">    </p:cNvPr>
          <p:cNvPicPr>
            <a:picLocks noChangeAspect="1"/>
          </p:cNvPicPr>
          <p:nvPr/>
        </p:nvPicPr>
        <p:blipFill>
          <a:blip r:embed="rId4"/>
          <a:stretch>
            <a:fillRect/>
          </a:stretch>
        </p:blipFill>
        <p:spPr>
          <a:xfrm>
            <a:off x="1485543" y="3780770"/>
            <a:ext cx="78462" cy="78462"/>
          </a:xfrm>
          <a:prstGeom prst="rect">
            <a:avLst/>
          </a:prstGeom>
        </p:spPr>
      </p:pic>
      <p:sp>
        <p:nvSpPr>
          <p:cNvPr id="14" name="Text 8"/>
          <p:cNvSpPr/>
          <p:nvPr/>
        </p:nvSpPr>
        <p:spPr>
          <a:xfrm>
            <a:off x="1681758" y="3697367"/>
            <a:ext cx="1848088" cy="230981"/>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Push Notifications</a:t>
            </a:r>
            <a:endParaRPr lang="en-US" sz="1450" dirty="0"/>
          </a:p>
        </p:txBody>
      </p:sp>
      <p:sp>
        <p:nvSpPr>
          <p:cNvPr id="15" name="Text 9"/>
          <p:cNvSpPr/>
          <p:nvPr/>
        </p:nvSpPr>
        <p:spPr>
          <a:xfrm>
            <a:off x="1681758" y="3998952"/>
            <a:ext cx="11462980"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Instant alerts when report status changes</a:t>
            </a:r>
            <a:endParaRPr lang="en-US" sz="1200" dirty="0"/>
          </a:p>
        </p:txBody>
      </p:sp>
      <p:pic>
        <p:nvPicPr>
          <p:cNvPr id="16" name="Image 4" descr="preencoded.png">    </p:cNvPr>
          <p:cNvPicPr>
            <a:picLocks noChangeAspect="1"/>
          </p:cNvPicPr>
          <p:nvPr/>
        </p:nvPicPr>
        <p:blipFill>
          <a:blip r:embed="rId5"/>
          <a:stretch>
            <a:fillRect/>
          </a:stretch>
        </p:blipFill>
        <p:spPr>
          <a:xfrm>
            <a:off x="1485543" y="4537770"/>
            <a:ext cx="78462" cy="78462"/>
          </a:xfrm>
          <a:prstGeom prst="rect">
            <a:avLst/>
          </a:prstGeom>
        </p:spPr>
      </p:pic>
      <p:sp>
        <p:nvSpPr>
          <p:cNvPr id="17" name="Text 10"/>
          <p:cNvSpPr/>
          <p:nvPr/>
        </p:nvSpPr>
        <p:spPr>
          <a:xfrm>
            <a:off x="1681758" y="4454366"/>
            <a:ext cx="2190155" cy="230981"/>
          </a:xfrm>
          <a:prstGeom prst="rect">
            <a:avLst/>
          </a:prstGeom>
          <a:noFill/>
          <a:ln/>
        </p:spPr>
        <p:txBody>
          <a:bodyPr wrap="none" lIns="0" tIns="0" rIns="0" bIns="0" rtlCol="0" anchor="t"/>
          <a:lstStyle/>
          <a:p>
            <a:pPr algn="l" indent="0" marL="0">
              <a:lnSpc>
                <a:spcPts val="1800"/>
              </a:lnSpc>
              <a:buNone/>
            </a:pPr>
            <a:r>
              <a:rPr lang="en-US" sz="1450" dirty="0">
                <a:solidFill>
                  <a:srgbClr val="D9E1FF"/>
                </a:solidFill>
                <a:latin typeface="Kanit" pitchFamily="34" charset="0"/>
                <a:ea typeface="Kanit" pitchFamily="34" charset="-122"/>
                <a:cs typeface="Kanit" pitchFamily="34" charset="-120"/>
              </a:rPr>
              <a:t>Community Rating System</a:t>
            </a:r>
            <a:endParaRPr lang="en-US" sz="1450" dirty="0"/>
          </a:p>
        </p:txBody>
      </p:sp>
      <p:sp>
        <p:nvSpPr>
          <p:cNvPr id="18" name="Text 11"/>
          <p:cNvSpPr/>
          <p:nvPr/>
        </p:nvSpPr>
        <p:spPr>
          <a:xfrm>
            <a:off x="1681758" y="4755952"/>
            <a:ext cx="11462980"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Rate resolution quality to improve service</a:t>
            </a:r>
            <a:endParaRPr lang="en-US" sz="1200" dirty="0"/>
          </a:p>
        </p:txBody>
      </p:sp>
      <p:sp>
        <p:nvSpPr>
          <p:cNvPr id="19" name="Shape 12"/>
          <p:cNvSpPr/>
          <p:nvPr/>
        </p:nvSpPr>
        <p:spPr>
          <a:xfrm>
            <a:off x="1485543" y="5147429"/>
            <a:ext cx="11659195" cy="11668"/>
          </a:xfrm>
          <a:prstGeom prst="rect">
            <a:avLst/>
          </a:prstGeom>
          <a:solidFill>
            <a:srgbClr val="D9E1FF">
              <a:alpha val="50000"/>
            </a:srgbClr>
          </a:solidFill>
          <a:ln/>
        </p:spPr>
      </p:sp>
      <p:sp>
        <p:nvSpPr>
          <p:cNvPr id="20" name="Text 13"/>
          <p:cNvSpPr/>
          <p:nvPr/>
        </p:nvSpPr>
        <p:spPr>
          <a:xfrm>
            <a:off x="1485543" y="5374958"/>
            <a:ext cx="2217777" cy="277178"/>
          </a:xfrm>
          <a:prstGeom prst="rect">
            <a:avLst/>
          </a:prstGeom>
          <a:noFill/>
          <a:ln/>
        </p:spPr>
        <p:txBody>
          <a:bodyPr wrap="none" lIns="0" tIns="0" rIns="0" bIns="0" rtlCol="0" anchor="t"/>
          <a:lstStyle/>
          <a:p>
            <a:pPr algn="l" indent="0" marL="0">
              <a:lnSpc>
                <a:spcPts val="2150"/>
              </a:lnSpc>
              <a:buNone/>
            </a:pPr>
            <a:r>
              <a:rPr lang="en-US" sz="1700" dirty="0">
                <a:solidFill>
                  <a:srgbClr val="FFFFFF"/>
                </a:solidFill>
                <a:latin typeface="Kanit" pitchFamily="34" charset="0"/>
                <a:ea typeface="Kanit" pitchFamily="34" charset="-122"/>
                <a:cs typeface="Kanit" pitchFamily="34" charset="-120"/>
              </a:rPr>
              <a:t>Conclusion</a:t>
            </a:r>
            <a:endParaRPr lang="en-US" sz="1700" dirty="0"/>
          </a:p>
        </p:txBody>
      </p:sp>
      <p:sp>
        <p:nvSpPr>
          <p:cNvPr id="21" name="Text 14"/>
          <p:cNvSpPr/>
          <p:nvPr/>
        </p:nvSpPr>
        <p:spPr>
          <a:xfrm>
            <a:off x="1485543" y="5828824"/>
            <a:ext cx="11659195" cy="439579"/>
          </a:xfrm>
          <a:prstGeom prst="rect">
            <a:avLst/>
          </a:prstGeom>
          <a:noFill/>
          <a:ln/>
        </p:spPr>
        <p:txBody>
          <a:bodyPr wrap="squar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A Community Report System transforms how citizens interact with local authorities, making reporting issues simple, transparent, and efficient. By connecting communities with the people who can solve problems, we create more responsive, accountable, and engaged neighborhoods.</a:t>
            </a:r>
            <a:endParaRPr lang="en-US" sz="1200" dirty="0"/>
          </a:p>
        </p:txBody>
      </p:sp>
      <p:sp>
        <p:nvSpPr>
          <p:cNvPr id="22" name="Shape 15"/>
          <p:cNvSpPr/>
          <p:nvPr/>
        </p:nvSpPr>
        <p:spPr>
          <a:xfrm>
            <a:off x="1485543" y="6400919"/>
            <a:ext cx="11659195" cy="561142"/>
          </a:xfrm>
          <a:prstGeom prst="roundRect">
            <a:avLst>
              <a:gd name="adj" fmla="val 4199"/>
            </a:avLst>
          </a:prstGeom>
          <a:solidFill>
            <a:srgbClr val="183A13"/>
          </a:solidFill>
          <a:ln/>
        </p:spPr>
      </p:sp>
      <p:pic>
        <p:nvPicPr>
          <p:cNvPr id="23" name="Image 5" descr="preencoded.png">    </p:cNvPr>
          <p:cNvPicPr>
            <a:picLocks noChangeAspect="1"/>
          </p:cNvPicPr>
          <p:nvPr/>
        </p:nvPicPr>
        <p:blipFill>
          <a:blip r:embed="rId6"/>
          <a:stretch>
            <a:fillRect/>
          </a:stretch>
        </p:blipFill>
        <p:spPr>
          <a:xfrm>
            <a:off x="1642586" y="6604397"/>
            <a:ext cx="196334" cy="157043"/>
          </a:xfrm>
          <a:prstGeom prst="rect">
            <a:avLst/>
          </a:prstGeom>
        </p:spPr>
      </p:pic>
      <p:sp>
        <p:nvSpPr>
          <p:cNvPr id="24" name="Text 16"/>
          <p:cNvSpPr/>
          <p:nvPr/>
        </p:nvSpPr>
        <p:spPr>
          <a:xfrm>
            <a:off x="1995964" y="6557843"/>
            <a:ext cx="10991731" cy="219789"/>
          </a:xfrm>
          <a:prstGeom prst="rect">
            <a:avLst/>
          </a:prstGeom>
          <a:noFill/>
          <a:ln/>
        </p:spPr>
        <p:txBody>
          <a:bodyPr wrap="none" lIns="0" tIns="0" rIns="0" bIns="0" rtlCol="0" anchor="t"/>
          <a:lstStyle/>
          <a:p>
            <a:pPr algn="l" indent="0" marL="0">
              <a:lnSpc>
                <a:spcPts val="1700"/>
              </a:lnSpc>
              <a:buNone/>
            </a:pPr>
            <a:r>
              <a:rPr lang="en-US" sz="1200" b="1" dirty="0">
                <a:solidFill>
                  <a:srgbClr val="FFFFFF"/>
                </a:solidFill>
                <a:latin typeface="Martel Sans Light" pitchFamily="34" charset="0"/>
                <a:ea typeface="Martel Sans Light" pitchFamily="34" charset="-122"/>
                <a:cs typeface="Martel Sans Light" pitchFamily="34" charset="-120"/>
              </a:rPr>
              <a:t>Impact:</a:t>
            </a:r>
            <a:pPr algn="l" indent="0" marL="0">
              <a:lnSpc>
                <a:spcPts val="1700"/>
              </a:lnSpc>
              <a:buNone/>
            </a:pPr>
            <a:r>
              <a:rPr lang="en-US" sz="1200" dirty="0">
                <a:solidFill>
                  <a:srgbClr val="FFFFFF"/>
                </a:solidFill>
                <a:latin typeface="Martel Sans Light" pitchFamily="34" charset="0"/>
                <a:ea typeface="Martel Sans Light" pitchFamily="34" charset="-122"/>
                <a:cs typeface="Martel Sans Light" pitchFamily="34" charset="-120"/>
              </a:rPr>
              <a:t> Faster response times, increased transparency, and empowered communities working together to improve their neighborhoods</a:t>
            </a:r>
            <a:endParaRPr lang="en-US" sz="1200" dirty="0"/>
          </a:p>
        </p:txBody>
      </p:sp>
      <p:sp>
        <p:nvSpPr>
          <p:cNvPr id="25" name="Text 17"/>
          <p:cNvSpPr/>
          <p:nvPr/>
        </p:nvSpPr>
        <p:spPr>
          <a:xfrm>
            <a:off x="1485543" y="7138749"/>
            <a:ext cx="1848088" cy="23098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Kanit" pitchFamily="34" charset="0"/>
                <a:ea typeface="Kanit" pitchFamily="34" charset="-122"/>
                <a:cs typeface="Kanit" pitchFamily="34" charset="-120"/>
              </a:rPr>
              <a:t>References</a:t>
            </a:r>
            <a:endParaRPr lang="en-US" sz="1450" dirty="0"/>
          </a:p>
        </p:txBody>
      </p:sp>
      <p:sp>
        <p:nvSpPr>
          <p:cNvPr id="26" name="Text 18"/>
          <p:cNvSpPr/>
          <p:nvPr/>
        </p:nvSpPr>
        <p:spPr>
          <a:xfrm>
            <a:off x="1485543" y="7546419"/>
            <a:ext cx="11659195" cy="219789"/>
          </a:xfrm>
          <a:prstGeom prst="rect">
            <a:avLst/>
          </a:prstGeom>
          <a:noFill/>
          <a:ln/>
        </p:spPr>
        <p:txBody>
          <a:bodyPr wrap="none" lIns="0" tIns="0" rIns="0" bIns="0" rtlCol="0" anchor="t"/>
          <a:lstStyle/>
          <a:p>
            <a:pPr algn="l" indent="0" marL="0">
              <a:lnSpc>
                <a:spcPts val="1700"/>
              </a:lnSpc>
              <a:buNone/>
            </a:pPr>
            <a:r>
              <a:rPr lang="en-US" sz="1200" dirty="0">
                <a:solidFill>
                  <a:srgbClr val="D9E1FF"/>
                </a:solidFill>
                <a:latin typeface="Martel Sans Light" pitchFamily="34" charset="0"/>
                <a:ea typeface="Martel Sans Light" pitchFamily="34" charset="-122"/>
                <a:cs typeface="Martel Sans Light" pitchFamily="34" charset="-120"/>
              </a:rPr>
              <a:t>[Include your sources and references here]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2026-04-15T06:46:12Z</dcterms:created>
  <dcterms:modified xsi:type="dcterms:W3CDTF">2026-04-15T06:46:12Z</dcterms:modified>
</cp:coreProperties>
</file>